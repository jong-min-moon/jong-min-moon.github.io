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4" r:id="rId1"/>
  </p:sldMasterIdLst>
  <p:notesMasterIdLst>
    <p:notesMasterId r:id="rId32"/>
  </p:notesMasterIdLst>
  <p:sldIdLst>
    <p:sldId id="256" r:id="rId2"/>
    <p:sldId id="313" r:id="rId3"/>
    <p:sldId id="322" r:id="rId4"/>
    <p:sldId id="314" r:id="rId5"/>
    <p:sldId id="315" r:id="rId6"/>
    <p:sldId id="316" r:id="rId7"/>
    <p:sldId id="329" r:id="rId8"/>
    <p:sldId id="330" r:id="rId9"/>
    <p:sldId id="332" r:id="rId10"/>
    <p:sldId id="331" r:id="rId11"/>
    <p:sldId id="333" r:id="rId12"/>
    <p:sldId id="317" r:id="rId13"/>
    <p:sldId id="318" r:id="rId14"/>
    <p:sldId id="320" r:id="rId15"/>
    <p:sldId id="321" r:id="rId16"/>
    <p:sldId id="326" r:id="rId17"/>
    <p:sldId id="334" r:id="rId18"/>
    <p:sldId id="341" r:id="rId19"/>
    <p:sldId id="342" r:id="rId20"/>
    <p:sldId id="343" r:id="rId21"/>
    <p:sldId id="335" r:id="rId22"/>
    <p:sldId id="325" r:id="rId23"/>
    <p:sldId id="324" r:id="rId24"/>
    <p:sldId id="336" r:id="rId25"/>
    <p:sldId id="337" r:id="rId26"/>
    <p:sldId id="338" r:id="rId27"/>
    <p:sldId id="339" r:id="rId28"/>
    <p:sldId id="340" r:id="rId29"/>
    <p:sldId id="323" r:id="rId30"/>
    <p:sldId id="327"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40"/>
    <p:restoredTop sz="95782"/>
  </p:normalViewPr>
  <p:slideViewPr>
    <p:cSldViewPr snapToGrid="0" snapToObjects="1">
      <p:cViewPr varScale="1">
        <p:scale>
          <a:sx n="122" d="100"/>
          <a:sy n="122" d="100"/>
        </p:scale>
        <p:origin x="1560"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77DDBC-01CD-1342-AD5D-00023D0E5F7D}" type="datetimeFigureOut">
              <a:t>10/20/25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493C1C-39FD-3D45-B7CC-6B8E659ABD37}" type="slidenum">
              <a:t>‹#›</a:t>
            </a:fld>
            <a:endParaRPr lang="en-US"/>
          </a:p>
        </p:txBody>
      </p:sp>
    </p:spTree>
    <p:extLst>
      <p:ext uri="{BB962C8B-B14F-4D97-AF65-F5344CB8AC3E}">
        <p14:creationId xmlns:p14="http://schemas.microsoft.com/office/powerpoint/2010/main" val="1548355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493C1C-39FD-3D45-B7CC-6B8E659ABD37}" type="slidenum">
              <a:rPr lang="en-US" smtClean="0"/>
              <a:t>2</a:t>
            </a:fld>
            <a:endParaRPr lang="en-US"/>
          </a:p>
        </p:txBody>
      </p:sp>
    </p:spTree>
    <p:extLst>
      <p:ext uri="{BB962C8B-B14F-4D97-AF65-F5344CB8AC3E}">
        <p14:creationId xmlns:p14="http://schemas.microsoft.com/office/powerpoint/2010/main" val="3408290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009EF04D-6A4A-A043-8EFB-8ABA03095EF2}" type="datetimeFigureOut">
              <a:rPr lang="mr-IN" smtClean="0"/>
              <a:t>20/10/25</a:t>
            </a:fld>
            <a:endParaRPr lang="mr-IN"/>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E96703-0A5F-A940-984C-4344A6C366AF}" type="slidenum">
              <a:rPr lang="uk-UA" smtClean="0"/>
              <a:t>‹#›</a:t>
            </a:fld>
            <a:endParaRPr lang="uk-UA"/>
          </a:p>
        </p:txBody>
      </p:sp>
    </p:spTree>
    <p:extLst>
      <p:ext uri="{BB962C8B-B14F-4D97-AF65-F5344CB8AC3E}">
        <p14:creationId xmlns:p14="http://schemas.microsoft.com/office/powerpoint/2010/main" val="36645973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9EF04D-6A4A-A043-8EFB-8ABA03095EF2}" type="datetimeFigureOut">
              <a:rPr lang="mr-IN" smtClean="0"/>
              <a:t>20/10/25</a:t>
            </a:fld>
            <a:endParaRPr lang="mr-IN"/>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E96703-0A5F-A940-984C-4344A6C366AF}" type="slidenum">
              <a:rPr lang="uk-UA" smtClean="0"/>
              <a:t>‹#›</a:t>
            </a:fld>
            <a:endParaRPr lang="uk-UA"/>
          </a:p>
        </p:txBody>
      </p:sp>
    </p:spTree>
    <p:extLst>
      <p:ext uri="{BB962C8B-B14F-4D97-AF65-F5344CB8AC3E}">
        <p14:creationId xmlns:p14="http://schemas.microsoft.com/office/powerpoint/2010/main" val="2899425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009EF04D-6A4A-A043-8EFB-8ABA03095EF2}" type="datetimeFigureOut">
              <a:rPr lang="mr-IN" smtClean="0"/>
              <a:t>20/10/25</a:t>
            </a:fld>
            <a:endParaRPr lang="mr-IN"/>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E96703-0A5F-A940-984C-4344A6C366AF}" type="slidenum">
              <a:rPr lang="uk-UA" smtClean="0"/>
              <a:t>‹#›</a:t>
            </a:fld>
            <a:endParaRPr lang="uk-UA"/>
          </a:p>
        </p:txBody>
      </p:sp>
    </p:spTree>
    <p:extLst>
      <p:ext uri="{BB962C8B-B14F-4D97-AF65-F5344CB8AC3E}">
        <p14:creationId xmlns:p14="http://schemas.microsoft.com/office/powerpoint/2010/main" val="365608705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009EF04D-6A4A-A043-8EFB-8ABA03095EF2}" type="datetimeFigureOut">
              <a:rPr lang="mr-IN" smtClean="0"/>
              <a:t>20/10/25</a:t>
            </a:fld>
            <a:endParaRPr lang="mr-IN"/>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02E96703-0A5F-A940-984C-4344A6C366AF}" type="slidenum">
              <a:rPr lang="uk-UA" smtClean="0"/>
              <a:t>‹#›</a:t>
            </a:fld>
            <a:endParaRPr lang="uk-UA"/>
          </a:p>
        </p:txBody>
      </p:sp>
    </p:spTree>
    <p:extLst>
      <p:ext uri="{BB962C8B-B14F-4D97-AF65-F5344CB8AC3E}">
        <p14:creationId xmlns:p14="http://schemas.microsoft.com/office/powerpoint/2010/main" val="1891558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2239" y="3143250"/>
            <a:ext cx="3288024"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009EF04D-6A4A-A043-8EFB-8ABA03095EF2}" type="datetimeFigureOut">
              <a:rPr lang="mr-IN" smtClean="0"/>
              <a:t>20/10/25</a:t>
            </a:fld>
            <a:endParaRPr lang="mr-IN"/>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E96703-0A5F-A940-984C-4344A6C366AF}" type="slidenum">
              <a:rPr lang="uk-UA" smtClean="0"/>
              <a:t>‹#›</a:t>
            </a:fld>
            <a:endParaRPr lang="uk-UA"/>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278863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9EF04D-6A4A-A043-8EFB-8ABA03095EF2}" type="datetimeFigureOut">
              <a:rPr lang="mr-IN" smtClean="0"/>
              <a:t>20/10/25</a:t>
            </a:fld>
            <a:endParaRPr lang="mr-IN"/>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E96703-0A5F-A940-984C-4344A6C366AF}" type="slidenum">
              <a:rPr lang="uk-UA" smtClean="0"/>
              <a:t>‹#›</a:t>
            </a:fld>
            <a:endParaRPr lang="uk-UA"/>
          </a:p>
        </p:txBody>
      </p:sp>
    </p:spTree>
    <p:extLst>
      <p:ext uri="{BB962C8B-B14F-4D97-AF65-F5344CB8AC3E}">
        <p14:creationId xmlns:p14="http://schemas.microsoft.com/office/powerpoint/2010/main" val="1517140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9EF04D-6A4A-A043-8EFB-8ABA03095EF2}" type="datetimeFigureOut">
              <a:rPr lang="mr-IN" smtClean="0"/>
              <a:t>20/10/25</a:t>
            </a:fld>
            <a:endParaRPr lang="mr-IN"/>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E96703-0A5F-A940-984C-4344A6C366AF}" type="slidenum">
              <a:rPr lang="uk-UA" smtClean="0"/>
              <a:t>‹#›</a:t>
            </a:fld>
            <a:endParaRPr lang="uk-UA"/>
          </a:p>
        </p:txBody>
      </p:sp>
    </p:spTree>
    <p:extLst>
      <p:ext uri="{BB962C8B-B14F-4D97-AF65-F5344CB8AC3E}">
        <p14:creationId xmlns:p14="http://schemas.microsoft.com/office/powerpoint/2010/main" val="3824616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009EF04D-6A4A-A043-8EFB-8ABA03095EF2}" type="datetimeFigureOut">
              <a:rPr lang="mr-IN" smtClean="0"/>
              <a:t>20/10/25</a:t>
            </a:fld>
            <a:endParaRPr lang="mr-IN"/>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02E96703-0A5F-A940-984C-4344A6C366AF}" type="slidenum">
              <a:rPr lang="uk-UA" smtClean="0"/>
              <a:t>‹#›</a:t>
            </a:fld>
            <a:endParaRPr lang="uk-UA"/>
          </a:p>
        </p:txBody>
      </p:sp>
    </p:spTree>
    <p:extLst>
      <p:ext uri="{BB962C8B-B14F-4D97-AF65-F5344CB8AC3E}">
        <p14:creationId xmlns:p14="http://schemas.microsoft.com/office/powerpoint/2010/main" val="791734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572000" y="-42172"/>
            <a:ext cx="4576573"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09EF04D-6A4A-A043-8EFB-8ABA03095EF2}" type="datetimeFigureOut">
              <a:rPr lang="mr-IN" smtClean="0"/>
              <a:t>20/10/25</a:t>
            </a:fld>
            <a:endParaRPr lang="mr-IN"/>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02E96703-0A5F-A940-984C-4344A6C366AF}" type="slidenum">
              <a:rPr lang="uk-UA" smtClean="0"/>
              <a:t>‹#›</a:t>
            </a:fld>
            <a:endParaRPr lang="uk-UA"/>
          </a:p>
        </p:txBody>
      </p:sp>
    </p:spTree>
    <p:extLst>
      <p:ext uri="{BB962C8B-B14F-4D97-AF65-F5344CB8AC3E}">
        <p14:creationId xmlns:p14="http://schemas.microsoft.com/office/powerpoint/2010/main" val="274918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9EF04D-6A4A-A043-8EFB-8ABA03095EF2}" type="datetimeFigureOut">
              <a:rPr lang="mr-IN" smtClean="0"/>
              <a:t>20/10/25</a:t>
            </a:fld>
            <a:endParaRPr lang="mr-I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E96703-0A5F-A940-984C-4344A6C366AF}" type="slidenum">
              <a:rPr lang="uk-UA" smtClean="0"/>
              <a:t>‹#›</a:t>
            </a:fld>
            <a:endParaRPr lang="uk-UA"/>
          </a:p>
        </p:txBody>
      </p:sp>
    </p:spTree>
    <p:extLst>
      <p:ext uri="{BB962C8B-B14F-4D97-AF65-F5344CB8AC3E}">
        <p14:creationId xmlns:p14="http://schemas.microsoft.com/office/powerpoint/2010/main" val="3849776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9EF04D-6A4A-A043-8EFB-8ABA03095EF2}" type="datetimeFigureOut">
              <a:rPr lang="mr-IN" smtClean="0"/>
              <a:t>20/10/25</a:t>
            </a:fld>
            <a:endParaRPr lang="mr-I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E96703-0A5F-A940-984C-4344A6C366AF}" type="slidenum">
              <a:rPr lang="uk-UA" smtClean="0"/>
              <a:t>‹#›</a:t>
            </a:fld>
            <a:endParaRPr lang="uk-UA"/>
          </a:p>
        </p:txBody>
      </p:sp>
    </p:spTree>
    <p:extLst>
      <p:ext uri="{BB962C8B-B14F-4D97-AF65-F5344CB8AC3E}">
        <p14:creationId xmlns:p14="http://schemas.microsoft.com/office/powerpoint/2010/main" val="3683604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009EF04D-6A4A-A043-8EFB-8ABA03095EF2}" type="datetimeFigureOut">
              <a:rPr lang="mr-IN" smtClean="0"/>
              <a:t>20/10/25</a:t>
            </a:fld>
            <a:endParaRPr lang="mr-IN"/>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02E96703-0A5F-A940-984C-4344A6C366AF}" type="slidenum">
              <a:rPr lang="uk-UA" smtClean="0"/>
              <a:t>‹#›</a:t>
            </a:fld>
            <a:endParaRPr lang="uk-UA"/>
          </a:p>
        </p:txBody>
      </p:sp>
    </p:spTree>
    <p:extLst>
      <p:ext uri="{BB962C8B-B14F-4D97-AF65-F5344CB8AC3E}">
        <p14:creationId xmlns:p14="http://schemas.microsoft.com/office/powerpoint/2010/main" val="1082005864"/>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arxiv.org/pdf/1904.09675"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4412" y="1526741"/>
            <a:ext cx="7015175" cy="3097809"/>
          </a:xfrm>
        </p:spPr>
        <p:txBody>
          <a:bodyPr>
            <a:noAutofit/>
          </a:bodyPr>
          <a:lstStyle/>
          <a:p>
            <a:r>
              <a:rPr lang="en-US" sz="5400" b="1" dirty="0"/>
              <a:t>ISE 547</a:t>
            </a:r>
          </a:p>
        </p:txBody>
      </p:sp>
    </p:spTree>
    <p:extLst>
      <p:ext uri="{BB962C8B-B14F-4D97-AF65-F5344CB8AC3E}">
        <p14:creationId xmlns:p14="http://schemas.microsoft.com/office/powerpoint/2010/main" val="1236046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0B39B-6CFB-E142-B7E5-AAEA53305413}"/>
              </a:ext>
            </a:extLst>
          </p:cNvPr>
          <p:cNvSpPr>
            <a:spLocks noGrp="1"/>
          </p:cNvSpPr>
          <p:nvPr>
            <p:ph type="title"/>
          </p:nvPr>
        </p:nvSpPr>
        <p:spPr/>
        <p:txBody>
          <a:bodyPr/>
          <a:lstStyle/>
          <a:p>
            <a:r>
              <a:rPr lang="en-US" dirty="0"/>
              <a:t>How do we evaluate </a:t>
            </a:r>
            <a:r>
              <a:rPr lang="en-US" dirty="0" err="1"/>
              <a:t>llm</a:t>
            </a:r>
            <a:r>
              <a:rPr lang="en-US" dirty="0"/>
              <a:t>-generated content?</a:t>
            </a:r>
          </a:p>
        </p:txBody>
      </p:sp>
      <p:sp>
        <p:nvSpPr>
          <p:cNvPr id="3" name="Content Placeholder 2">
            <a:extLst>
              <a:ext uri="{FF2B5EF4-FFF2-40B4-BE49-F238E27FC236}">
                <a16:creationId xmlns:a16="http://schemas.microsoft.com/office/drawing/2014/main" id="{3460C85C-C783-0144-8B4C-9C4317062618}"/>
              </a:ext>
            </a:extLst>
          </p:cNvPr>
          <p:cNvSpPr>
            <a:spLocks noGrp="1"/>
          </p:cNvSpPr>
          <p:nvPr>
            <p:ph idx="1"/>
          </p:nvPr>
        </p:nvSpPr>
        <p:spPr>
          <a:xfrm>
            <a:off x="746235" y="2396359"/>
            <a:ext cx="7872248" cy="4141075"/>
          </a:xfrm>
        </p:spPr>
        <p:txBody>
          <a:bodyPr>
            <a:normAutofit/>
          </a:bodyPr>
          <a:lstStyle/>
          <a:p>
            <a:r>
              <a:rPr lang="en-US" dirty="0">
                <a:solidFill>
                  <a:srgbClr val="161616"/>
                </a:solidFill>
                <a:effectLst/>
                <a:latin typeface="Helvetica" pitchFamily="2" charset="0"/>
              </a:rPr>
              <a:t>Evaluation methods measure how well our system is performing. </a:t>
            </a:r>
          </a:p>
          <a:p>
            <a:r>
              <a:rPr lang="en-US" dirty="0">
                <a:solidFill>
                  <a:srgbClr val="161616"/>
                </a:solidFill>
                <a:effectLst/>
                <a:latin typeface="Helvetica" pitchFamily="2" charset="0"/>
              </a:rPr>
              <a:t>Manual evaluation (human review) of each summary would be time-consuming, costly and would not be scalable</a:t>
            </a:r>
          </a:p>
          <a:p>
            <a:r>
              <a:rPr lang="en-US" dirty="0">
                <a:solidFill>
                  <a:srgbClr val="161616"/>
                </a:solidFill>
                <a:effectLst/>
                <a:latin typeface="Helvetica" pitchFamily="2" charset="0"/>
              </a:rPr>
              <a:t>So we have to complement with automatic evaluation. Many automatic evaluation methods attempt to measure the same qualities of text that human evaluators would consider. </a:t>
            </a:r>
          </a:p>
          <a:p>
            <a:r>
              <a:rPr lang="en-US" dirty="0">
                <a:solidFill>
                  <a:srgbClr val="161616"/>
                </a:solidFill>
                <a:effectLst/>
                <a:latin typeface="Helvetica" pitchFamily="2" charset="0"/>
              </a:rPr>
              <a:t>Those qualities could</a:t>
            </a:r>
            <a:r>
              <a:rPr lang="en-US" dirty="0">
                <a:solidFill>
                  <a:srgbClr val="161616"/>
                </a:solidFill>
                <a:latin typeface="Helvetica" pitchFamily="2" charset="0"/>
              </a:rPr>
              <a:t> </a:t>
            </a:r>
            <a:r>
              <a:rPr lang="en-US" dirty="0">
                <a:solidFill>
                  <a:srgbClr val="161616"/>
                </a:solidFill>
                <a:effectLst/>
                <a:latin typeface="Helvetica" pitchFamily="2" charset="0"/>
              </a:rPr>
              <a:t>include </a:t>
            </a:r>
            <a:r>
              <a:rPr lang="en-US" dirty="0">
                <a:solidFill>
                  <a:schemeClr val="tx1"/>
                </a:solidFill>
                <a:effectLst/>
                <a:latin typeface="Helvetica" pitchFamily="2" charset="0"/>
              </a:rPr>
              <a:t>fluency, coherence, relevance, factual consistency, and fairness.</a:t>
            </a:r>
            <a:r>
              <a:rPr lang="en-US" dirty="0">
                <a:solidFill>
                  <a:srgbClr val="161616"/>
                </a:solidFill>
                <a:effectLst/>
                <a:latin typeface="Helvetica" pitchFamily="2" charset="0"/>
              </a:rPr>
              <a:t> Similarity in content</a:t>
            </a:r>
            <a:r>
              <a:rPr lang="en-US" dirty="0">
                <a:solidFill>
                  <a:srgbClr val="0065B4"/>
                </a:solidFill>
                <a:latin typeface="Helvetica" pitchFamily="2" charset="0"/>
              </a:rPr>
              <a:t> </a:t>
            </a:r>
            <a:r>
              <a:rPr lang="en-US" dirty="0">
                <a:solidFill>
                  <a:srgbClr val="161616"/>
                </a:solidFill>
                <a:effectLst/>
                <a:latin typeface="Helvetica" pitchFamily="2" charset="0"/>
              </a:rPr>
              <a:t>or style to a reference text can also be an important quality of generated text.</a:t>
            </a:r>
          </a:p>
        </p:txBody>
      </p:sp>
    </p:spTree>
    <p:extLst>
      <p:ext uri="{BB962C8B-B14F-4D97-AF65-F5344CB8AC3E}">
        <p14:creationId xmlns:p14="http://schemas.microsoft.com/office/powerpoint/2010/main" val="511736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148291-F465-4406-C2B1-4975DD5DBB1D}"/>
              </a:ext>
            </a:extLst>
          </p:cNvPr>
          <p:cNvSpPr>
            <a:spLocks noGrp="1"/>
          </p:cNvSpPr>
          <p:nvPr>
            <p:ph type="title"/>
          </p:nvPr>
        </p:nvSpPr>
        <p:spPr>
          <a:xfrm>
            <a:off x="1603122" y="2834640"/>
            <a:ext cx="5937755" cy="1188720"/>
          </a:xfrm>
        </p:spPr>
        <p:txBody>
          <a:bodyPr/>
          <a:lstStyle/>
          <a:p>
            <a:r>
              <a:rPr lang="en-US" dirty="0"/>
              <a:t>Reference-based metrics</a:t>
            </a:r>
          </a:p>
        </p:txBody>
      </p:sp>
    </p:spTree>
    <p:extLst>
      <p:ext uri="{BB962C8B-B14F-4D97-AF65-F5344CB8AC3E}">
        <p14:creationId xmlns:p14="http://schemas.microsoft.com/office/powerpoint/2010/main" val="1685224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77CBE-0C70-1881-582B-55E1442A98C8}"/>
              </a:ext>
            </a:extLst>
          </p:cNvPr>
          <p:cNvSpPr>
            <a:spLocks noGrp="1"/>
          </p:cNvSpPr>
          <p:nvPr>
            <p:ph type="title"/>
          </p:nvPr>
        </p:nvSpPr>
        <p:spPr/>
        <p:txBody>
          <a:bodyPr/>
          <a:lstStyle/>
          <a:p>
            <a:r>
              <a:rPr lang="en-US" dirty="0"/>
              <a:t>Reference-based metrics</a:t>
            </a:r>
          </a:p>
        </p:txBody>
      </p:sp>
      <p:sp>
        <p:nvSpPr>
          <p:cNvPr id="3" name="Content Placeholder 2">
            <a:extLst>
              <a:ext uri="{FF2B5EF4-FFF2-40B4-BE49-F238E27FC236}">
                <a16:creationId xmlns:a16="http://schemas.microsoft.com/office/drawing/2014/main" id="{D01CC13C-01A9-5C49-1420-82F470C1F139}"/>
              </a:ext>
            </a:extLst>
          </p:cNvPr>
          <p:cNvSpPr>
            <a:spLocks noGrp="1"/>
          </p:cNvSpPr>
          <p:nvPr>
            <p:ph idx="1"/>
          </p:nvPr>
        </p:nvSpPr>
        <p:spPr>
          <a:xfrm>
            <a:off x="1606045" y="2638045"/>
            <a:ext cx="5937755" cy="3584079"/>
          </a:xfrm>
        </p:spPr>
        <p:txBody>
          <a:bodyPr>
            <a:normAutofit lnSpcReduction="10000"/>
          </a:bodyPr>
          <a:lstStyle/>
          <a:p>
            <a:r>
              <a:rPr lang="en-US" dirty="0">
                <a:solidFill>
                  <a:srgbClr val="161616"/>
                </a:solidFill>
                <a:effectLst/>
                <a:latin typeface="Helvetica" pitchFamily="2" charset="0"/>
              </a:rPr>
              <a:t>Reference-based metrics are used to compare generated text to a reference, the human annotated ground truth text. Many of these metrics were developed for traditional NLP tasks before LLMs were developed but remain applicable to LLM-generated text.</a:t>
            </a:r>
          </a:p>
          <a:p>
            <a:r>
              <a:rPr lang="en-US" dirty="0">
                <a:solidFill>
                  <a:srgbClr val="161616"/>
                </a:solidFill>
                <a:latin typeface="Helvetica" pitchFamily="2" charset="0"/>
              </a:rPr>
              <a:t>You saw the simplest example of one such metric in HW2: accuracy, but you’ve likely also seen such metrics in machine learning or analytics classes (precision, recall, F-measure…)</a:t>
            </a:r>
          </a:p>
          <a:p>
            <a:r>
              <a:rPr lang="en-US" dirty="0">
                <a:solidFill>
                  <a:srgbClr val="161616"/>
                </a:solidFill>
                <a:effectLst/>
                <a:latin typeface="Helvetica" pitchFamily="2" charset="0"/>
              </a:rPr>
              <a:t>However, it is not evident how we can use a metric like accuracy to evaluate generated text (why not?)</a:t>
            </a:r>
          </a:p>
        </p:txBody>
      </p:sp>
    </p:spTree>
    <p:extLst>
      <p:ext uri="{BB962C8B-B14F-4D97-AF65-F5344CB8AC3E}">
        <p14:creationId xmlns:p14="http://schemas.microsoft.com/office/powerpoint/2010/main" val="1878078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02A76-B006-23DC-8E2E-8562C8ACAC56}"/>
              </a:ext>
            </a:extLst>
          </p:cNvPr>
          <p:cNvSpPr>
            <a:spLocks noGrp="1"/>
          </p:cNvSpPr>
          <p:nvPr>
            <p:ph type="title"/>
          </p:nvPr>
        </p:nvSpPr>
        <p:spPr/>
        <p:txBody>
          <a:bodyPr/>
          <a:lstStyle/>
          <a:p>
            <a:r>
              <a:rPr lang="en-US" dirty="0"/>
              <a:t>Bleu</a:t>
            </a:r>
          </a:p>
        </p:txBody>
      </p:sp>
      <p:sp>
        <p:nvSpPr>
          <p:cNvPr id="3" name="Content Placeholder 2">
            <a:extLst>
              <a:ext uri="{FF2B5EF4-FFF2-40B4-BE49-F238E27FC236}">
                <a16:creationId xmlns:a16="http://schemas.microsoft.com/office/drawing/2014/main" id="{A2857A8A-D594-CEB6-88C8-5EDF5C6E6ED4}"/>
              </a:ext>
            </a:extLst>
          </p:cNvPr>
          <p:cNvSpPr>
            <a:spLocks noGrp="1"/>
          </p:cNvSpPr>
          <p:nvPr>
            <p:ph idx="1"/>
          </p:nvPr>
        </p:nvSpPr>
        <p:spPr>
          <a:xfrm>
            <a:off x="1606045" y="2638045"/>
            <a:ext cx="5937755" cy="3689183"/>
          </a:xfrm>
        </p:spPr>
        <p:txBody>
          <a:bodyPr>
            <a:normAutofit fontScale="85000" lnSpcReduction="10000"/>
          </a:bodyPr>
          <a:lstStyle/>
          <a:p>
            <a:r>
              <a:rPr lang="en-US" dirty="0">
                <a:solidFill>
                  <a:srgbClr val="161616"/>
                </a:solidFill>
                <a:effectLst/>
                <a:latin typeface="Helvetica" pitchFamily="2" charset="0"/>
              </a:rPr>
              <a:t>The </a:t>
            </a:r>
            <a:r>
              <a:rPr lang="en-US" b="1" dirty="0">
                <a:solidFill>
                  <a:srgbClr val="161616"/>
                </a:solidFill>
                <a:effectLst/>
                <a:latin typeface="Helvetica" pitchFamily="2" charset="0"/>
              </a:rPr>
              <a:t>BLEU (bilingual evaluation understudy) </a:t>
            </a:r>
            <a:r>
              <a:rPr lang="en-US" dirty="0">
                <a:solidFill>
                  <a:srgbClr val="161616"/>
                </a:solidFill>
                <a:effectLst/>
                <a:latin typeface="Helvetica" pitchFamily="2" charset="0"/>
              </a:rPr>
              <a:t>score evaluates the quality of machine-translated text from one natural language to another. </a:t>
            </a:r>
          </a:p>
          <a:p>
            <a:r>
              <a:rPr lang="en-US" dirty="0">
                <a:solidFill>
                  <a:srgbClr val="161616"/>
                </a:solidFill>
                <a:effectLst/>
                <a:latin typeface="Helvetica" pitchFamily="2" charset="0"/>
              </a:rPr>
              <a:t>Therefore, it’s typically used for machine-translation tasks, however, it’s also being used in other tasks such as text generation, paraphrase generation, and text summarization.</a:t>
            </a:r>
          </a:p>
          <a:p>
            <a:r>
              <a:rPr lang="en-US" dirty="0">
                <a:solidFill>
                  <a:srgbClr val="161616"/>
                </a:solidFill>
                <a:effectLst/>
                <a:latin typeface="Helvetica" pitchFamily="2" charset="0"/>
              </a:rPr>
              <a:t>The basic idea involves computing the precision, which is the fraction of candidate words in the reference translation. Scores are calculated for individual translated segments—generally sentences—by comparing them with a set of good quality reference translations.</a:t>
            </a:r>
          </a:p>
          <a:p>
            <a:r>
              <a:rPr lang="en-US" dirty="0">
                <a:solidFill>
                  <a:srgbClr val="161616"/>
                </a:solidFill>
                <a:effectLst/>
                <a:latin typeface="Helvetica" pitchFamily="2" charset="0"/>
              </a:rPr>
              <a:t>Those scores are then averaged over the whole corpus to reach an estimate of the translation's overall quality. Punctuation or grammatical correctness is not taken into account when scoring.</a:t>
            </a:r>
          </a:p>
          <a:p>
            <a:endParaRPr lang="en-US" dirty="0">
              <a:solidFill>
                <a:srgbClr val="161616"/>
              </a:solidFill>
              <a:effectLst/>
              <a:latin typeface="Helvetica" pitchFamily="2" charset="0"/>
            </a:endParaRPr>
          </a:p>
          <a:p>
            <a:endParaRPr lang="en-US" dirty="0">
              <a:solidFill>
                <a:srgbClr val="161616"/>
              </a:solidFill>
              <a:effectLst/>
              <a:latin typeface="Helvetica" pitchFamily="2" charset="0"/>
            </a:endParaRPr>
          </a:p>
          <a:p>
            <a:endParaRPr lang="en-US" dirty="0"/>
          </a:p>
        </p:txBody>
      </p:sp>
    </p:spTree>
    <p:extLst>
      <p:ext uri="{BB962C8B-B14F-4D97-AF65-F5344CB8AC3E}">
        <p14:creationId xmlns:p14="http://schemas.microsoft.com/office/powerpoint/2010/main" val="3009694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7FE94-C5C5-D10D-9952-2D4B942F1B22}"/>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A04019A1-CFCC-60FC-20E9-CEF5B0924D95}"/>
              </a:ext>
            </a:extLst>
          </p:cNvPr>
          <p:cNvSpPr>
            <a:spLocks noGrp="1"/>
          </p:cNvSpPr>
          <p:nvPr>
            <p:ph idx="1"/>
          </p:nvPr>
        </p:nvSpPr>
        <p:spPr/>
        <p:txBody>
          <a:bodyPr>
            <a:normAutofit fontScale="92500" lnSpcReduction="20000"/>
          </a:bodyPr>
          <a:lstStyle/>
          <a:p>
            <a:r>
              <a:rPr lang="en-US" b="1" dirty="0"/>
              <a:t>n-grams</a:t>
            </a:r>
            <a:r>
              <a:rPr lang="en-US" dirty="0"/>
              <a:t>: contiguous sequences of words of length </a:t>
            </a:r>
            <a:r>
              <a:rPr lang="en-US" i="1" dirty="0"/>
              <a:t>n</a:t>
            </a:r>
            <a:br>
              <a:rPr lang="en-US" dirty="0"/>
            </a:br>
            <a:r>
              <a:rPr lang="en-US" dirty="0"/>
              <a:t>– unigram = 1 word (“cat”), bigram = 2 words (“the cat”), etc.</a:t>
            </a:r>
          </a:p>
          <a:p>
            <a:r>
              <a:rPr lang="en-US" b="1" dirty="0"/>
              <a:t>Modified precision</a:t>
            </a:r>
            <a:r>
              <a:rPr lang="en-US" dirty="0"/>
              <a:t>:</a:t>
            </a:r>
            <a:br>
              <a:rPr lang="en-US" dirty="0"/>
            </a:br>
            <a:r>
              <a:rPr lang="en-US" dirty="0"/>
              <a:t>– Count how many candidate n-grams appear in reference(s),</a:t>
            </a:r>
            <a:br>
              <a:rPr lang="en-US" dirty="0"/>
            </a:br>
            <a:r>
              <a:rPr lang="en-US" dirty="0"/>
              <a:t>– But “clip” counts so you don’t over-reward repeated words.</a:t>
            </a:r>
          </a:p>
          <a:p>
            <a:r>
              <a:rPr lang="en-US" b="1" dirty="0"/>
              <a:t>Brevity penalty (BP)</a:t>
            </a:r>
            <a:r>
              <a:rPr lang="en-US" dirty="0"/>
              <a:t>:</a:t>
            </a:r>
            <a:br>
              <a:rPr lang="en-US" dirty="0"/>
            </a:br>
            <a:r>
              <a:rPr lang="en-US" dirty="0"/>
              <a:t>– Penalizes outputs that are too short compared to references.</a:t>
            </a:r>
          </a:p>
          <a:p>
            <a:r>
              <a:rPr lang="en-US" b="1" dirty="0"/>
              <a:t>Final score</a:t>
            </a:r>
            <a:r>
              <a:rPr lang="en-US" dirty="0"/>
              <a:t>:</a:t>
            </a:r>
            <a:br>
              <a:rPr lang="en-US" dirty="0"/>
            </a:br>
            <a:r>
              <a:rPr lang="en-US" dirty="0"/>
              <a:t>– Weighted average of log precisions across n=1…4</a:t>
            </a:r>
            <a:br>
              <a:rPr lang="en-US" dirty="0"/>
            </a:br>
            <a:r>
              <a:rPr lang="en-US" dirty="0"/>
              <a:t>– Multiply by brevity penalty</a:t>
            </a:r>
          </a:p>
          <a:p>
            <a:r>
              <a:rPr lang="en-US" b="1" dirty="0"/>
              <a:t>Interpretation:</a:t>
            </a:r>
            <a:r>
              <a:rPr lang="en-US" dirty="0"/>
              <a:t> BLEU ranges from </a:t>
            </a:r>
            <a:r>
              <a:rPr lang="en-US" b="1" dirty="0"/>
              <a:t>0 to 1</a:t>
            </a:r>
            <a:r>
              <a:rPr lang="en-US" dirty="0"/>
              <a:t> (often shown as 0–100). Higher is better.</a:t>
            </a:r>
          </a:p>
        </p:txBody>
      </p:sp>
    </p:spTree>
    <p:extLst>
      <p:ext uri="{BB962C8B-B14F-4D97-AF65-F5344CB8AC3E}">
        <p14:creationId xmlns:p14="http://schemas.microsoft.com/office/powerpoint/2010/main" val="1796684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A88F8-F27F-8303-7A8A-BAC80FA90DC2}"/>
              </a:ext>
            </a:extLst>
          </p:cNvPr>
          <p:cNvSpPr>
            <a:spLocks noGrp="1"/>
          </p:cNvSpPr>
          <p:nvPr>
            <p:ph type="title"/>
          </p:nvPr>
        </p:nvSpPr>
        <p:spPr/>
        <p:txBody>
          <a:bodyPr/>
          <a:lstStyle/>
          <a:p>
            <a:r>
              <a:rPr lang="en-US" dirty="0"/>
              <a:t>Formula</a:t>
            </a:r>
          </a:p>
        </p:txBody>
      </p:sp>
      <p:pic>
        <p:nvPicPr>
          <p:cNvPr id="5" name="Content Placeholder 4" descr="A math equations and formulas&#10;&#10;Description automatically generated with medium confidence">
            <a:extLst>
              <a:ext uri="{FF2B5EF4-FFF2-40B4-BE49-F238E27FC236}">
                <a16:creationId xmlns:a16="http://schemas.microsoft.com/office/drawing/2014/main" id="{136CFA3C-D235-6C09-9642-4656E3BFA399}"/>
              </a:ext>
            </a:extLst>
          </p:cNvPr>
          <p:cNvPicPr>
            <a:picLocks noGrp="1" noChangeAspect="1"/>
          </p:cNvPicPr>
          <p:nvPr>
            <p:ph idx="1"/>
          </p:nvPr>
        </p:nvPicPr>
        <p:blipFill>
          <a:blip r:embed="rId2"/>
          <a:stretch>
            <a:fillRect/>
          </a:stretch>
        </p:blipFill>
        <p:spPr>
          <a:xfrm>
            <a:off x="2823765" y="2390727"/>
            <a:ext cx="5702300" cy="1727200"/>
          </a:xfrm>
        </p:spPr>
      </p:pic>
      <p:sp>
        <p:nvSpPr>
          <p:cNvPr id="6" name="TextBox 5">
            <a:extLst>
              <a:ext uri="{FF2B5EF4-FFF2-40B4-BE49-F238E27FC236}">
                <a16:creationId xmlns:a16="http://schemas.microsoft.com/office/drawing/2014/main" id="{18ED4F96-54A9-5943-CACE-A0D001BA0835}"/>
              </a:ext>
            </a:extLst>
          </p:cNvPr>
          <p:cNvSpPr txBox="1"/>
          <p:nvPr/>
        </p:nvSpPr>
        <p:spPr>
          <a:xfrm>
            <a:off x="629779" y="2967920"/>
            <a:ext cx="1571199" cy="369332"/>
          </a:xfrm>
          <a:prstGeom prst="rect">
            <a:avLst/>
          </a:prstGeom>
          <a:noFill/>
        </p:spPr>
        <p:txBody>
          <a:bodyPr wrap="none" rtlCol="0">
            <a:spAutoFit/>
          </a:bodyPr>
          <a:lstStyle/>
          <a:p>
            <a:r>
              <a:rPr lang="en-US" dirty="0"/>
              <a:t>Brevity penalty</a:t>
            </a:r>
          </a:p>
        </p:txBody>
      </p:sp>
      <p:sp>
        <p:nvSpPr>
          <p:cNvPr id="7" name="TextBox 6">
            <a:extLst>
              <a:ext uri="{FF2B5EF4-FFF2-40B4-BE49-F238E27FC236}">
                <a16:creationId xmlns:a16="http://schemas.microsoft.com/office/drawing/2014/main" id="{E1B00A90-B627-79B0-DC83-F81268AF3D13}"/>
              </a:ext>
            </a:extLst>
          </p:cNvPr>
          <p:cNvSpPr txBox="1"/>
          <p:nvPr/>
        </p:nvSpPr>
        <p:spPr>
          <a:xfrm>
            <a:off x="629779" y="3582776"/>
            <a:ext cx="1571199" cy="646331"/>
          </a:xfrm>
          <a:prstGeom prst="rect">
            <a:avLst/>
          </a:prstGeom>
          <a:noFill/>
        </p:spPr>
        <p:txBody>
          <a:bodyPr wrap="square" rtlCol="0">
            <a:spAutoFit/>
          </a:bodyPr>
          <a:lstStyle/>
          <a:p>
            <a:r>
              <a:rPr lang="en-US" dirty="0"/>
              <a:t>Modified precision</a:t>
            </a:r>
          </a:p>
        </p:txBody>
      </p:sp>
      <p:cxnSp>
        <p:nvCxnSpPr>
          <p:cNvPr id="9" name="Straight Arrow Connector 8">
            <a:extLst>
              <a:ext uri="{FF2B5EF4-FFF2-40B4-BE49-F238E27FC236}">
                <a16:creationId xmlns:a16="http://schemas.microsoft.com/office/drawing/2014/main" id="{DCD91E78-0328-6D63-CFD6-1FC56723BE9B}"/>
              </a:ext>
            </a:extLst>
          </p:cNvPr>
          <p:cNvCxnSpPr>
            <a:stCxn id="6" idx="3"/>
          </p:cNvCxnSpPr>
          <p:nvPr/>
        </p:nvCxnSpPr>
        <p:spPr>
          <a:xfrm>
            <a:off x="2200978" y="3152586"/>
            <a:ext cx="7517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6C510AC-66CA-B757-A202-423A1E6F9FE8}"/>
              </a:ext>
            </a:extLst>
          </p:cNvPr>
          <p:cNvCxnSpPr>
            <a:cxnSpLocks/>
          </p:cNvCxnSpPr>
          <p:nvPr/>
        </p:nvCxnSpPr>
        <p:spPr>
          <a:xfrm>
            <a:off x="1825099" y="3905941"/>
            <a:ext cx="9986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847FAFD-25C8-84C1-FCA3-7CEC66DD7FE7}"/>
              </a:ext>
            </a:extLst>
          </p:cNvPr>
          <p:cNvSpPr txBox="1"/>
          <p:nvPr/>
        </p:nvSpPr>
        <p:spPr>
          <a:xfrm>
            <a:off x="3228887" y="6456192"/>
            <a:ext cx="3089628" cy="369332"/>
          </a:xfrm>
          <a:prstGeom prst="rect">
            <a:avLst/>
          </a:prstGeom>
          <a:noFill/>
        </p:spPr>
        <p:txBody>
          <a:bodyPr wrap="none" rtlCol="0">
            <a:spAutoFit/>
          </a:bodyPr>
          <a:lstStyle/>
          <a:p>
            <a:r>
              <a:rPr lang="en-US" dirty="0">
                <a:solidFill>
                  <a:srgbClr val="FF0000"/>
                </a:solidFill>
              </a:rPr>
              <a:t>Let’s go into this in more detail</a:t>
            </a:r>
          </a:p>
        </p:txBody>
      </p:sp>
      <p:sp>
        <p:nvSpPr>
          <p:cNvPr id="14" name="TextBox 13">
            <a:extLst>
              <a:ext uri="{FF2B5EF4-FFF2-40B4-BE49-F238E27FC236}">
                <a16:creationId xmlns:a16="http://schemas.microsoft.com/office/drawing/2014/main" id="{980096BB-4EA4-9ADE-6EA3-1384A18434F9}"/>
              </a:ext>
            </a:extLst>
          </p:cNvPr>
          <p:cNvSpPr txBox="1"/>
          <p:nvPr/>
        </p:nvSpPr>
        <p:spPr>
          <a:xfrm>
            <a:off x="629779" y="4552272"/>
            <a:ext cx="8207771" cy="1754326"/>
          </a:xfrm>
          <a:prstGeom prst="rect">
            <a:avLst/>
          </a:prstGeom>
          <a:noFill/>
        </p:spPr>
        <p:txBody>
          <a:bodyPr wrap="square">
            <a:spAutoFit/>
          </a:bodyPr>
          <a:lstStyle/>
          <a:p>
            <a:r>
              <a:rPr lang="en-US" b="1" dirty="0"/>
              <a:t>c</a:t>
            </a:r>
            <a:r>
              <a:rPr lang="en-US" dirty="0"/>
              <a:t> = length of the </a:t>
            </a:r>
            <a:r>
              <a:rPr lang="en-US" b="1" dirty="0"/>
              <a:t>candidate translation</a:t>
            </a:r>
            <a:r>
              <a:rPr lang="en-US" dirty="0"/>
              <a:t> (number of words)</a:t>
            </a:r>
          </a:p>
          <a:p>
            <a:r>
              <a:rPr lang="en-US" b="1" dirty="0"/>
              <a:t>r</a:t>
            </a:r>
            <a:r>
              <a:rPr lang="en-US" dirty="0"/>
              <a:t> = length of the </a:t>
            </a:r>
            <a:r>
              <a:rPr lang="en-US" b="1" dirty="0"/>
              <a:t>reference translation(s)</a:t>
            </a:r>
            <a:r>
              <a:rPr lang="en-US" dirty="0"/>
              <a:t> chosen for brevity penalty (usually the closest reference length to c)</a:t>
            </a:r>
          </a:p>
          <a:p>
            <a:r>
              <a:rPr lang="en-US" b="1" dirty="0"/>
              <a:t>N</a:t>
            </a:r>
            <a:r>
              <a:rPr lang="en-US" dirty="0"/>
              <a:t> = highest n-gram order used (often 4 → unigrams, bigrams, trigrams, 4-grams)</a:t>
            </a:r>
          </a:p>
          <a:p>
            <a:r>
              <a:rPr lang="en-US" dirty="0" err="1"/>
              <a:t>w</a:t>
            </a:r>
            <a:r>
              <a:rPr lang="en-US" baseline="-25000" dirty="0" err="1"/>
              <a:t>n</a:t>
            </a:r>
            <a:r>
              <a:rPr lang="en-US" dirty="0"/>
              <a:t> = weight for each order (often uniform: =1/N)</a:t>
            </a:r>
          </a:p>
          <a:p>
            <a:endParaRPr lang="en-US" dirty="0"/>
          </a:p>
        </p:txBody>
      </p:sp>
    </p:spTree>
    <p:extLst>
      <p:ext uri="{BB962C8B-B14F-4D97-AF65-F5344CB8AC3E}">
        <p14:creationId xmlns:p14="http://schemas.microsoft.com/office/powerpoint/2010/main" val="877856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D01A3-3049-83C4-1FF4-2F6FB732AA13}"/>
              </a:ext>
            </a:extLst>
          </p:cNvPr>
          <p:cNvSpPr>
            <a:spLocks noGrp="1"/>
          </p:cNvSpPr>
          <p:nvPr>
            <p:ph type="title"/>
          </p:nvPr>
        </p:nvSpPr>
        <p:spPr/>
        <p:txBody>
          <a:bodyPr/>
          <a:lstStyle/>
          <a:p>
            <a:r>
              <a:rPr lang="en-US" dirty="0"/>
              <a:t>Detailed example</a:t>
            </a:r>
          </a:p>
        </p:txBody>
      </p:sp>
      <p:sp>
        <p:nvSpPr>
          <p:cNvPr id="3" name="Content Placeholder 2">
            <a:extLst>
              <a:ext uri="{FF2B5EF4-FFF2-40B4-BE49-F238E27FC236}">
                <a16:creationId xmlns:a16="http://schemas.microsoft.com/office/drawing/2014/main" id="{58BD29A9-5EF7-2A5F-EB64-729106E1FCC5}"/>
              </a:ext>
            </a:extLst>
          </p:cNvPr>
          <p:cNvSpPr>
            <a:spLocks noGrp="1"/>
          </p:cNvSpPr>
          <p:nvPr>
            <p:ph idx="1"/>
          </p:nvPr>
        </p:nvSpPr>
        <p:spPr>
          <a:xfrm>
            <a:off x="1238183" y="2522431"/>
            <a:ext cx="6402838" cy="4141127"/>
          </a:xfrm>
        </p:spPr>
        <p:txBody>
          <a:bodyPr>
            <a:normAutofit fontScale="85000" lnSpcReduction="20000"/>
          </a:bodyPr>
          <a:lstStyle/>
          <a:p>
            <a:r>
              <a:rPr lang="en-US" b="1" dirty="0"/>
              <a:t>Ref:</a:t>
            </a:r>
            <a:r>
              <a:rPr lang="en-US" dirty="0"/>
              <a:t> “the cat is on the mat”</a:t>
            </a:r>
            <a:br>
              <a:rPr lang="en-US" dirty="0"/>
            </a:br>
            <a:r>
              <a:rPr lang="en-US" b="1" dirty="0"/>
              <a:t>Cand:</a:t>
            </a:r>
            <a:r>
              <a:rPr lang="en-US" dirty="0"/>
              <a:t> “the cat sat on the mat”</a:t>
            </a:r>
          </a:p>
          <a:p>
            <a:r>
              <a:rPr lang="en-US" dirty="0"/>
              <a:t>Token counts (with clipping to reference):</a:t>
            </a:r>
          </a:p>
          <a:p>
            <a:pPr>
              <a:buFont typeface="Arial" panose="020B0604020202020204" pitchFamily="34" charset="0"/>
              <a:buChar char="•"/>
            </a:pPr>
            <a:r>
              <a:rPr lang="en-US" dirty="0"/>
              <a:t>Unigrams (cand 6): overlap = {the×2, cat×1, on×1, mat×1} = </a:t>
            </a:r>
            <a:r>
              <a:rPr lang="en-US" b="1" dirty="0"/>
              <a:t>5</a:t>
            </a:r>
            <a:r>
              <a:rPr lang="en-US" dirty="0"/>
              <a:t> → </a:t>
            </a:r>
            <a:r>
              <a:rPr lang="en-US" b="1" dirty="0"/>
              <a:t>p₁=5/6</a:t>
            </a:r>
            <a:endParaRPr lang="en-US" dirty="0"/>
          </a:p>
          <a:p>
            <a:pPr>
              <a:buFont typeface="Arial" panose="020B0604020202020204" pitchFamily="34" charset="0"/>
              <a:buChar char="•"/>
            </a:pPr>
            <a:r>
              <a:rPr lang="en-US" dirty="0"/>
              <a:t>Bigrams (cand 5): cand = [the cat, cat sat, sat on, on the, the mat]; ref = [the cat, cat is, is on, on the, the mat] → matches = {the cat, on the, the mat} = </a:t>
            </a:r>
            <a:r>
              <a:rPr lang="en-US" b="1" dirty="0"/>
              <a:t>3</a:t>
            </a:r>
            <a:r>
              <a:rPr lang="en-US" dirty="0"/>
              <a:t> → </a:t>
            </a:r>
            <a:r>
              <a:rPr lang="en-US" b="1" dirty="0"/>
              <a:t>p₂=3/5</a:t>
            </a:r>
            <a:endParaRPr lang="en-US" dirty="0"/>
          </a:p>
          <a:p>
            <a:pPr>
              <a:buFont typeface="Arial" panose="020B0604020202020204" pitchFamily="34" charset="0"/>
              <a:buChar char="•"/>
            </a:pPr>
            <a:r>
              <a:rPr lang="en-US" dirty="0"/>
              <a:t>Trigrams (cand 4): only </a:t>
            </a:r>
            <a:r>
              <a:rPr lang="en-US" b="1" dirty="0"/>
              <a:t>on the mat</a:t>
            </a:r>
            <a:r>
              <a:rPr lang="en-US" dirty="0"/>
              <a:t> matches → </a:t>
            </a:r>
            <a:r>
              <a:rPr lang="en-US" b="1" dirty="0"/>
              <a:t>p₃=1/4</a:t>
            </a:r>
            <a:endParaRPr lang="en-US" dirty="0"/>
          </a:p>
          <a:p>
            <a:pPr>
              <a:buFont typeface="Arial" panose="020B0604020202020204" pitchFamily="34" charset="0"/>
              <a:buChar char="•"/>
            </a:pPr>
            <a:r>
              <a:rPr lang="en-US" dirty="0"/>
              <a:t>4-grams (cand 3): </a:t>
            </a:r>
            <a:r>
              <a:rPr lang="en-US" b="1" dirty="0"/>
              <a:t>no match</a:t>
            </a:r>
            <a:r>
              <a:rPr lang="en-US" dirty="0"/>
              <a:t> → </a:t>
            </a:r>
            <a:r>
              <a:rPr lang="en-US" b="1" dirty="0"/>
              <a:t>p₄=0</a:t>
            </a:r>
            <a:endParaRPr lang="en-US" dirty="0"/>
          </a:p>
          <a:p>
            <a:r>
              <a:rPr lang="en-US" dirty="0"/>
              <a:t>Lengths: c=6, r=6 → </a:t>
            </a:r>
            <a:r>
              <a:rPr lang="en-US" b="1" dirty="0"/>
              <a:t>BP=1</a:t>
            </a:r>
            <a:endParaRPr lang="en-US" dirty="0"/>
          </a:p>
          <a:p>
            <a:pPr>
              <a:buFont typeface="Arial" panose="020B0604020202020204" pitchFamily="34" charset="0"/>
              <a:buChar char="•"/>
            </a:pPr>
            <a:r>
              <a:rPr lang="en-US" b="1" dirty="0"/>
              <a:t>BLEU-4 (unsmoothed) = 0</a:t>
            </a:r>
            <a:r>
              <a:rPr lang="en-US" dirty="0"/>
              <a:t> (because p₄=0)</a:t>
            </a:r>
          </a:p>
          <a:p>
            <a:pPr>
              <a:buFont typeface="Arial" panose="020B0604020202020204" pitchFamily="34" charset="0"/>
              <a:buChar char="•"/>
            </a:pPr>
            <a:r>
              <a:rPr lang="en-US" b="1" dirty="0"/>
              <a:t>BLEU-4 (+1 smoothing)</a:t>
            </a:r>
            <a:br>
              <a:rPr lang="en-US" dirty="0"/>
            </a:br>
            <a:r>
              <a:rPr lang="en-US" dirty="0"/>
              <a:t>p₁=(5+1)/(6+1)=6/7≈0.857, p₂=(3+1)/(5+1)=4/6≈0.667, p₃=(1+1)/(4+1)=2/5=0.40, p₄=(0+1)/(3+1)=1/4=0.25</a:t>
            </a:r>
            <a:br>
              <a:rPr lang="en-US" dirty="0"/>
            </a:br>
            <a:r>
              <a:rPr lang="en-US" dirty="0"/>
              <a:t>GM = exp(¼·(ln.857+ln.667+ln.40+ln.25)) ≈ </a:t>
            </a:r>
            <a:r>
              <a:rPr lang="en-US" b="1" dirty="0"/>
              <a:t>0.489</a:t>
            </a:r>
            <a:r>
              <a:rPr lang="en-US" dirty="0"/>
              <a:t>; BP=1 → </a:t>
            </a:r>
            <a:r>
              <a:rPr lang="en-US" b="1" dirty="0"/>
              <a:t>BLEU ≈ 0.49</a:t>
            </a:r>
            <a:endParaRPr lang="en-US" dirty="0"/>
          </a:p>
          <a:p>
            <a:endParaRPr lang="en-US" dirty="0"/>
          </a:p>
        </p:txBody>
      </p:sp>
    </p:spTree>
    <p:extLst>
      <p:ext uri="{BB962C8B-B14F-4D97-AF65-F5344CB8AC3E}">
        <p14:creationId xmlns:p14="http://schemas.microsoft.com/office/powerpoint/2010/main" val="2842296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E9B77-DA7A-636A-5294-64AD83BAD8ED}"/>
              </a:ext>
            </a:extLst>
          </p:cNvPr>
          <p:cNvSpPr>
            <a:spLocks noGrp="1"/>
          </p:cNvSpPr>
          <p:nvPr>
            <p:ph type="title"/>
          </p:nvPr>
        </p:nvSpPr>
        <p:spPr/>
        <p:txBody>
          <a:bodyPr/>
          <a:lstStyle/>
          <a:p>
            <a:r>
              <a:rPr lang="en-US" dirty="0"/>
              <a:t>Now you do one</a:t>
            </a:r>
          </a:p>
        </p:txBody>
      </p:sp>
      <p:sp>
        <p:nvSpPr>
          <p:cNvPr id="3" name="Content Placeholder 2">
            <a:extLst>
              <a:ext uri="{FF2B5EF4-FFF2-40B4-BE49-F238E27FC236}">
                <a16:creationId xmlns:a16="http://schemas.microsoft.com/office/drawing/2014/main" id="{F790A46D-16F1-4F21-01FF-B0697B8F109D}"/>
              </a:ext>
            </a:extLst>
          </p:cNvPr>
          <p:cNvSpPr>
            <a:spLocks noGrp="1"/>
          </p:cNvSpPr>
          <p:nvPr>
            <p:ph idx="1"/>
          </p:nvPr>
        </p:nvSpPr>
        <p:spPr/>
        <p:txBody>
          <a:bodyPr/>
          <a:lstStyle/>
          <a:p>
            <a:r>
              <a:rPr lang="en-US" b="1" dirty="0"/>
              <a:t>Reference:</a:t>
            </a:r>
            <a:r>
              <a:rPr lang="en-US" dirty="0"/>
              <a:t> “the cat is on the mat”</a:t>
            </a:r>
            <a:br>
              <a:rPr lang="en-US" dirty="0"/>
            </a:br>
            <a:r>
              <a:rPr lang="en-US" b="1" dirty="0"/>
              <a:t>Candidate:</a:t>
            </a:r>
            <a:r>
              <a:rPr lang="en-US" dirty="0"/>
              <a:t> “the cat the cat on the mat”</a:t>
            </a:r>
          </a:p>
        </p:txBody>
      </p:sp>
    </p:spTree>
    <p:extLst>
      <p:ext uri="{BB962C8B-B14F-4D97-AF65-F5344CB8AC3E}">
        <p14:creationId xmlns:p14="http://schemas.microsoft.com/office/powerpoint/2010/main" val="2678321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31455-1735-1CFD-D763-CEBD16ADBC56}"/>
              </a:ext>
            </a:extLst>
          </p:cNvPr>
          <p:cNvSpPr>
            <a:spLocks noGrp="1"/>
          </p:cNvSpPr>
          <p:nvPr>
            <p:ph type="title"/>
          </p:nvPr>
        </p:nvSpPr>
        <p:spPr/>
        <p:txBody>
          <a:bodyPr/>
          <a:lstStyle/>
          <a:p>
            <a:r>
              <a:rPr lang="en-US" dirty="0"/>
              <a:t>Example of multiple </a:t>
            </a:r>
            <a:r>
              <a:rPr lang="en-US" dirty="0" err="1"/>
              <a:t>references+brevity</a:t>
            </a:r>
            <a:r>
              <a:rPr lang="en-US" dirty="0"/>
              <a:t> penalty</a:t>
            </a:r>
          </a:p>
        </p:txBody>
      </p:sp>
      <p:sp>
        <p:nvSpPr>
          <p:cNvPr id="3" name="Content Placeholder 2">
            <a:extLst>
              <a:ext uri="{FF2B5EF4-FFF2-40B4-BE49-F238E27FC236}">
                <a16:creationId xmlns:a16="http://schemas.microsoft.com/office/drawing/2014/main" id="{723ED7AF-3B93-BC9A-445E-63088FC72EB2}"/>
              </a:ext>
            </a:extLst>
          </p:cNvPr>
          <p:cNvSpPr>
            <a:spLocks noGrp="1"/>
          </p:cNvSpPr>
          <p:nvPr>
            <p:ph idx="1"/>
          </p:nvPr>
        </p:nvSpPr>
        <p:spPr>
          <a:xfrm>
            <a:off x="1606045" y="2638045"/>
            <a:ext cx="6318755" cy="4130617"/>
          </a:xfrm>
        </p:spPr>
        <p:txBody>
          <a:bodyPr>
            <a:normAutofit fontScale="77500" lnSpcReduction="20000"/>
          </a:bodyPr>
          <a:lstStyle/>
          <a:p>
            <a:r>
              <a:rPr lang="en-US" b="1" dirty="0"/>
              <a:t>Refs:</a:t>
            </a:r>
            <a:br>
              <a:rPr lang="en-US" dirty="0"/>
            </a:br>
            <a:r>
              <a:rPr lang="en-US" dirty="0"/>
              <a:t>R1: “there is a cat on the mat” (7)</a:t>
            </a:r>
            <a:br>
              <a:rPr lang="en-US" dirty="0"/>
            </a:br>
            <a:r>
              <a:rPr lang="en-US" dirty="0"/>
              <a:t>R2: “a cat is on the mat” (6)</a:t>
            </a:r>
            <a:br>
              <a:rPr lang="en-US" dirty="0"/>
            </a:br>
            <a:r>
              <a:rPr lang="en-US" b="1" dirty="0"/>
              <a:t>Cand:</a:t>
            </a:r>
            <a:r>
              <a:rPr lang="en-US" dirty="0"/>
              <a:t> “there is cat on mat” (5)</a:t>
            </a:r>
          </a:p>
          <a:p>
            <a:pPr>
              <a:buFont typeface="Arial" panose="020B0604020202020204" pitchFamily="34" charset="0"/>
              <a:buChar char="•"/>
            </a:pPr>
            <a:r>
              <a:rPr lang="en-US" dirty="0"/>
              <a:t>Effective reference length r = closest to c ⇒ r=6 → </a:t>
            </a:r>
            <a:r>
              <a:rPr lang="en-US" b="1" dirty="0"/>
              <a:t>BP = exp(1 − r/c) = exp(1 − 6/5) ≈ 0.819</a:t>
            </a:r>
            <a:endParaRPr lang="en-US" dirty="0"/>
          </a:p>
          <a:p>
            <a:r>
              <a:rPr lang="en-US" dirty="0"/>
              <a:t>Modified precisions (clip counts against </a:t>
            </a:r>
            <a:r>
              <a:rPr lang="en-US" b="1" dirty="0"/>
              <a:t>max</a:t>
            </a:r>
            <a:r>
              <a:rPr lang="en-US" dirty="0"/>
              <a:t> over the two refs):</a:t>
            </a:r>
          </a:p>
          <a:p>
            <a:pPr>
              <a:buFont typeface="Arial" panose="020B0604020202020204" pitchFamily="34" charset="0"/>
              <a:buChar char="•"/>
            </a:pPr>
            <a:r>
              <a:rPr lang="en-US" dirty="0"/>
              <a:t>Unigrams (cand 5): all present across refs → </a:t>
            </a:r>
            <a:r>
              <a:rPr lang="en-US" b="1" dirty="0"/>
              <a:t>p₁=5/5=1</a:t>
            </a:r>
            <a:endParaRPr lang="en-US" dirty="0"/>
          </a:p>
          <a:p>
            <a:pPr>
              <a:buFont typeface="Arial" panose="020B0604020202020204" pitchFamily="34" charset="0"/>
              <a:buChar char="•"/>
            </a:pPr>
            <a:r>
              <a:rPr lang="en-US" dirty="0"/>
              <a:t>Bigrams (cand 4): [there is, is cat, cat on, on mat]; matches: </a:t>
            </a:r>
            <a:r>
              <a:rPr lang="en-US" b="1" dirty="0"/>
              <a:t>there is</a:t>
            </a:r>
            <a:r>
              <a:rPr lang="en-US" dirty="0"/>
              <a:t>, </a:t>
            </a:r>
            <a:r>
              <a:rPr lang="en-US" b="1" dirty="0"/>
              <a:t>cat on</a:t>
            </a:r>
            <a:r>
              <a:rPr lang="en-US" dirty="0"/>
              <a:t> → </a:t>
            </a:r>
            <a:r>
              <a:rPr lang="en-US" b="1" dirty="0"/>
              <a:t>p₂=2/4=0.5</a:t>
            </a:r>
            <a:endParaRPr lang="en-US" dirty="0"/>
          </a:p>
          <a:p>
            <a:pPr>
              <a:buFont typeface="Arial" panose="020B0604020202020204" pitchFamily="34" charset="0"/>
              <a:buChar char="•"/>
            </a:pPr>
            <a:r>
              <a:rPr lang="en-US" dirty="0"/>
              <a:t>Trigrams (cand 3): none in refs → </a:t>
            </a:r>
            <a:r>
              <a:rPr lang="en-US" b="1" dirty="0"/>
              <a:t>p₃=0</a:t>
            </a:r>
            <a:endParaRPr lang="en-US" dirty="0"/>
          </a:p>
          <a:p>
            <a:pPr>
              <a:buFont typeface="Arial" panose="020B0604020202020204" pitchFamily="34" charset="0"/>
              <a:buChar char="•"/>
            </a:pPr>
            <a:r>
              <a:rPr lang="en-US" dirty="0"/>
              <a:t>4-grams (cand 2): none → </a:t>
            </a:r>
            <a:r>
              <a:rPr lang="en-US" b="1" dirty="0"/>
              <a:t>p₄=0</a:t>
            </a:r>
            <a:endParaRPr lang="en-US" dirty="0"/>
          </a:p>
          <a:p>
            <a:pPr>
              <a:buFont typeface="Arial" panose="020B0604020202020204" pitchFamily="34" charset="0"/>
              <a:buChar char="•"/>
            </a:pPr>
            <a:r>
              <a:rPr lang="en-US" b="1" dirty="0"/>
              <a:t>BLEU-4 (unsmoothed) = 0</a:t>
            </a:r>
            <a:endParaRPr lang="en-US" dirty="0"/>
          </a:p>
          <a:p>
            <a:pPr>
              <a:buFont typeface="Arial" panose="020B0604020202020204" pitchFamily="34" charset="0"/>
              <a:buChar char="•"/>
            </a:pPr>
            <a:r>
              <a:rPr lang="en-US" b="1" dirty="0"/>
              <a:t>BLEU-4 (+1 smoothing)</a:t>
            </a:r>
            <a:br>
              <a:rPr lang="en-US" dirty="0"/>
            </a:br>
            <a:r>
              <a:rPr lang="en-US" dirty="0"/>
              <a:t>p₁=1.00, p₂=(2+1)/(4+1)=0.6, p₃=(0+1)/(3+1)=0.25, p₄=(0+1)/(2+1)≈0.333</a:t>
            </a:r>
            <a:br>
              <a:rPr lang="en-US" dirty="0"/>
            </a:br>
            <a:r>
              <a:rPr lang="en-US" dirty="0"/>
              <a:t>GM ≈ exp(¼·(ln1+ln.6+ln.25+ln.333)) ≈ 0.473 → </a:t>
            </a:r>
            <a:r>
              <a:rPr lang="en-US" b="1" dirty="0"/>
              <a:t>BLEU ≈ 0.819 × 0.473 ≈ 0.39</a:t>
            </a:r>
            <a:endParaRPr lang="en-US" dirty="0"/>
          </a:p>
          <a:p>
            <a:endParaRPr lang="en-US" dirty="0"/>
          </a:p>
        </p:txBody>
      </p:sp>
    </p:spTree>
    <p:extLst>
      <p:ext uri="{BB962C8B-B14F-4D97-AF65-F5344CB8AC3E}">
        <p14:creationId xmlns:p14="http://schemas.microsoft.com/office/powerpoint/2010/main" val="4156033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CBA99-9D43-69B1-6FB4-787C2617A964}"/>
              </a:ext>
            </a:extLst>
          </p:cNvPr>
          <p:cNvSpPr>
            <a:spLocks noGrp="1"/>
          </p:cNvSpPr>
          <p:nvPr>
            <p:ph type="title"/>
          </p:nvPr>
        </p:nvSpPr>
        <p:spPr/>
        <p:txBody>
          <a:bodyPr/>
          <a:lstStyle/>
          <a:p>
            <a:r>
              <a:rPr lang="en-US" dirty="0"/>
              <a:t>Let’s do another one</a:t>
            </a:r>
          </a:p>
        </p:txBody>
      </p:sp>
      <p:sp>
        <p:nvSpPr>
          <p:cNvPr id="3" name="Content Placeholder 2">
            <a:extLst>
              <a:ext uri="{FF2B5EF4-FFF2-40B4-BE49-F238E27FC236}">
                <a16:creationId xmlns:a16="http://schemas.microsoft.com/office/drawing/2014/main" id="{782ED3AE-CD75-FD49-65EB-B68B2666AF6E}"/>
              </a:ext>
            </a:extLst>
          </p:cNvPr>
          <p:cNvSpPr>
            <a:spLocks noGrp="1"/>
          </p:cNvSpPr>
          <p:nvPr>
            <p:ph idx="1"/>
          </p:nvPr>
        </p:nvSpPr>
        <p:spPr/>
        <p:txBody>
          <a:bodyPr/>
          <a:lstStyle/>
          <a:p>
            <a:r>
              <a:rPr lang="en-US" b="1" dirty="0"/>
              <a:t>References:</a:t>
            </a:r>
            <a:endParaRPr lang="en-US" dirty="0"/>
          </a:p>
          <a:p>
            <a:pPr>
              <a:buFont typeface="Arial" panose="020B0604020202020204" pitchFamily="34" charset="0"/>
              <a:buChar char="•"/>
            </a:pPr>
            <a:r>
              <a:rPr lang="en-US" dirty="0"/>
              <a:t>R1: “a cat is sitting on the mat” (7 words)</a:t>
            </a:r>
          </a:p>
          <a:p>
            <a:pPr>
              <a:buFont typeface="Arial" panose="020B0604020202020204" pitchFamily="34" charset="0"/>
              <a:buChar char="•"/>
            </a:pPr>
            <a:r>
              <a:rPr lang="en-US" dirty="0"/>
              <a:t>R2: “the cat is on the mat” (6 words)</a:t>
            </a:r>
          </a:p>
          <a:p>
            <a:r>
              <a:rPr lang="en-US" b="1" dirty="0"/>
              <a:t>Candidate:</a:t>
            </a:r>
            <a:r>
              <a:rPr lang="en-US" dirty="0"/>
              <a:t> “cat on the mat” (4 words)</a:t>
            </a:r>
          </a:p>
          <a:p>
            <a:endParaRPr lang="en-US" dirty="0"/>
          </a:p>
        </p:txBody>
      </p:sp>
    </p:spTree>
    <p:extLst>
      <p:ext uri="{BB962C8B-B14F-4D97-AF65-F5344CB8AC3E}">
        <p14:creationId xmlns:p14="http://schemas.microsoft.com/office/powerpoint/2010/main" val="3746517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F6052-2F29-02C0-4554-5EFB6B36E25E}"/>
              </a:ext>
            </a:extLst>
          </p:cNvPr>
          <p:cNvSpPr>
            <a:spLocks noGrp="1"/>
          </p:cNvSpPr>
          <p:nvPr>
            <p:ph type="title"/>
          </p:nvPr>
        </p:nvSpPr>
        <p:spPr/>
        <p:txBody>
          <a:bodyPr/>
          <a:lstStyle/>
          <a:p>
            <a:r>
              <a:rPr lang="en-US" dirty="0"/>
              <a:t>Some things to note about bleu</a:t>
            </a:r>
          </a:p>
        </p:txBody>
      </p:sp>
      <p:sp>
        <p:nvSpPr>
          <p:cNvPr id="3" name="Content Placeholder 2">
            <a:extLst>
              <a:ext uri="{FF2B5EF4-FFF2-40B4-BE49-F238E27FC236}">
                <a16:creationId xmlns:a16="http://schemas.microsoft.com/office/drawing/2014/main" id="{B71E2D68-306E-1036-FC04-393D957BEBC0}"/>
              </a:ext>
            </a:extLst>
          </p:cNvPr>
          <p:cNvSpPr>
            <a:spLocks noGrp="1"/>
          </p:cNvSpPr>
          <p:nvPr>
            <p:ph idx="1"/>
          </p:nvPr>
        </p:nvSpPr>
        <p:spPr/>
        <p:txBody>
          <a:bodyPr>
            <a:normAutofit fontScale="85000" lnSpcReduction="10000"/>
          </a:bodyPr>
          <a:lstStyle/>
          <a:p>
            <a:r>
              <a:rPr lang="en-US" dirty="0">
                <a:solidFill>
                  <a:srgbClr val="161616"/>
                </a:solidFill>
                <a:effectLst/>
                <a:latin typeface="Helvetica" pitchFamily="2" charset="0"/>
              </a:rPr>
              <a:t>Few human translations will attain a perfect BLEU score, since a perfect score would indicate that the candidate is identical to one of the reference translations. </a:t>
            </a:r>
          </a:p>
          <a:p>
            <a:r>
              <a:rPr lang="en-US" dirty="0">
                <a:solidFill>
                  <a:srgbClr val="161616"/>
                </a:solidFill>
                <a:effectLst/>
                <a:latin typeface="Helvetica" pitchFamily="2" charset="0"/>
              </a:rPr>
              <a:t>For this reason, it is not necessary to attain a perfect score. Given that there are more opportunities to match with the addition of multiple reference translations, it is good to have one or more reference translations that will be useful for maximizing the BLEU score.</a:t>
            </a:r>
          </a:p>
          <a:p>
            <a:r>
              <a:rPr lang="en-US" dirty="0">
                <a:solidFill>
                  <a:srgbClr val="161616"/>
                </a:solidFill>
                <a:effectLst/>
                <a:latin typeface="Helvetica" pitchFamily="2" charset="0"/>
              </a:rPr>
              <a:t>Typically, the BLEU computation considers individual words or unigrams of candidate that occur in target. However, for more accurate evaluations of a match, one could compute bigrams or even trigrams and average the score obtained from various n-grams to compute the overall BLEU score.</a:t>
            </a:r>
          </a:p>
          <a:p>
            <a:endParaRPr lang="en-US" dirty="0">
              <a:solidFill>
                <a:srgbClr val="161616"/>
              </a:solidFill>
              <a:effectLst/>
              <a:latin typeface="Helvetica" pitchFamily="2" charset="0"/>
            </a:endParaRPr>
          </a:p>
          <a:p>
            <a:endParaRPr lang="en-US" dirty="0">
              <a:solidFill>
                <a:srgbClr val="161616"/>
              </a:solidFill>
              <a:effectLst/>
              <a:latin typeface="Helvetica" pitchFamily="2" charset="0"/>
            </a:endParaRPr>
          </a:p>
          <a:p>
            <a:endParaRPr lang="en-US" dirty="0"/>
          </a:p>
        </p:txBody>
      </p:sp>
    </p:spTree>
    <p:extLst>
      <p:ext uri="{BB962C8B-B14F-4D97-AF65-F5344CB8AC3E}">
        <p14:creationId xmlns:p14="http://schemas.microsoft.com/office/powerpoint/2010/main" val="3654332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66E64-A151-10D6-39C1-68DBD6730D52}"/>
              </a:ext>
            </a:extLst>
          </p:cNvPr>
          <p:cNvSpPr>
            <a:spLocks noGrp="1"/>
          </p:cNvSpPr>
          <p:nvPr>
            <p:ph type="title"/>
          </p:nvPr>
        </p:nvSpPr>
        <p:spPr/>
        <p:txBody>
          <a:bodyPr/>
          <a:lstStyle/>
          <a:p>
            <a:r>
              <a:rPr lang="en-US" dirty="0"/>
              <a:t>Limitations of bleu</a:t>
            </a:r>
          </a:p>
        </p:txBody>
      </p:sp>
      <p:sp>
        <p:nvSpPr>
          <p:cNvPr id="3" name="Content Placeholder 2">
            <a:extLst>
              <a:ext uri="{FF2B5EF4-FFF2-40B4-BE49-F238E27FC236}">
                <a16:creationId xmlns:a16="http://schemas.microsoft.com/office/drawing/2014/main" id="{9776A8F3-8E48-A7FE-6F22-E6F1F0D9FE5C}"/>
              </a:ext>
            </a:extLst>
          </p:cNvPr>
          <p:cNvSpPr>
            <a:spLocks noGrp="1"/>
          </p:cNvSpPr>
          <p:nvPr>
            <p:ph idx="1"/>
          </p:nvPr>
        </p:nvSpPr>
        <p:spPr>
          <a:xfrm>
            <a:off x="1360071" y="2406817"/>
            <a:ext cx="6423858" cy="3857348"/>
          </a:xfrm>
        </p:spPr>
        <p:txBody>
          <a:bodyPr>
            <a:normAutofit fontScale="77500" lnSpcReduction="20000"/>
          </a:bodyPr>
          <a:lstStyle/>
          <a:p>
            <a:r>
              <a:rPr lang="en-US" b="1" dirty="0"/>
              <a:t>Surface-level only</a:t>
            </a:r>
            <a:br>
              <a:rPr lang="en-US" dirty="0"/>
            </a:br>
            <a:r>
              <a:rPr lang="en-US" dirty="0"/>
              <a:t>– BLEU measures </a:t>
            </a:r>
            <a:r>
              <a:rPr lang="en-US" b="1" dirty="0"/>
              <a:t>word/phrase overlap</a:t>
            </a:r>
            <a:r>
              <a:rPr lang="en-US" dirty="0"/>
              <a:t>, not true meaning or semantic similarity.</a:t>
            </a:r>
          </a:p>
          <a:p>
            <a:r>
              <a:rPr lang="en-US" b="1" dirty="0"/>
              <a:t>Insensitive to synonyms or paraphrases</a:t>
            </a:r>
            <a:br>
              <a:rPr lang="en-US" dirty="0"/>
            </a:br>
            <a:r>
              <a:rPr lang="en-US" dirty="0"/>
              <a:t>– “the cat is on the mat” vs. “the feline rests on the rug” → BLEU score can be very low despite being a good translation.</a:t>
            </a:r>
          </a:p>
          <a:p>
            <a:r>
              <a:rPr lang="en-US" b="1" dirty="0"/>
              <a:t>Harsh at sentence level</a:t>
            </a:r>
            <a:br>
              <a:rPr lang="en-US" dirty="0"/>
            </a:br>
            <a:r>
              <a:rPr lang="en-US" dirty="0"/>
              <a:t>– One missing bigram or trigram → score can drop to zero without smoothing.</a:t>
            </a:r>
          </a:p>
          <a:p>
            <a:r>
              <a:rPr lang="en-US" b="1" dirty="0"/>
              <a:t>Length bias</a:t>
            </a:r>
            <a:br>
              <a:rPr lang="en-US" dirty="0"/>
            </a:br>
            <a:r>
              <a:rPr lang="en-US" dirty="0"/>
              <a:t>– Encourages outputs close in length to references (short translations penalized, but overly long ones may not be penalized enough).</a:t>
            </a:r>
          </a:p>
          <a:p>
            <a:r>
              <a:rPr lang="en-US" b="1" dirty="0"/>
              <a:t>Reference dependence</a:t>
            </a:r>
            <a:br>
              <a:rPr lang="en-US" dirty="0"/>
            </a:br>
            <a:r>
              <a:rPr lang="en-US" dirty="0"/>
              <a:t>– Quality depends on having </a:t>
            </a:r>
            <a:r>
              <a:rPr lang="en-US" b="1" dirty="0"/>
              <a:t>multiple reference translations</a:t>
            </a:r>
            <a:r>
              <a:rPr lang="en-US" dirty="0"/>
              <a:t>; with only one reference, BLEU can unfairly punish valid alternatives.</a:t>
            </a:r>
          </a:p>
          <a:p>
            <a:r>
              <a:rPr lang="en-US" b="1" dirty="0"/>
              <a:t>Not always human-aligned</a:t>
            </a:r>
            <a:br>
              <a:rPr lang="en-US" dirty="0"/>
            </a:br>
            <a:r>
              <a:rPr lang="en-US" dirty="0"/>
              <a:t>– Correlation with human judgments is decent for large corpora, but weaker for individual sentences or creative tasks.</a:t>
            </a:r>
          </a:p>
          <a:p>
            <a:pPr marL="0" indent="0">
              <a:buNone/>
            </a:pPr>
            <a:endParaRPr lang="en-US" dirty="0"/>
          </a:p>
        </p:txBody>
      </p:sp>
      <p:sp>
        <p:nvSpPr>
          <p:cNvPr id="4" name="TextBox 3">
            <a:extLst>
              <a:ext uri="{FF2B5EF4-FFF2-40B4-BE49-F238E27FC236}">
                <a16:creationId xmlns:a16="http://schemas.microsoft.com/office/drawing/2014/main" id="{C8F91202-5749-8D20-8B25-E2223924D4C7}"/>
              </a:ext>
            </a:extLst>
          </p:cNvPr>
          <p:cNvSpPr txBox="1"/>
          <p:nvPr/>
        </p:nvSpPr>
        <p:spPr>
          <a:xfrm>
            <a:off x="1814052" y="6002555"/>
            <a:ext cx="6047685" cy="523220"/>
          </a:xfrm>
          <a:prstGeom prst="rect">
            <a:avLst/>
          </a:prstGeom>
          <a:noFill/>
        </p:spPr>
        <p:txBody>
          <a:bodyPr wrap="square" rtlCol="0">
            <a:spAutoFit/>
          </a:bodyPr>
          <a:lstStyle/>
          <a:p>
            <a:r>
              <a:rPr lang="en-US" sz="1400" dirty="0">
                <a:solidFill>
                  <a:srgbClr val="FF0000"/>
                </a:solidFill>
              </a:rPr>
              <a:t>Takeaway: BLEU is a useful baseline for large-scale evaluation, but not sufficient on its own — often combined with human evaluation or newer metrics</a:t>
            </a:r>
          </a:p>
        </p:txBody>
      </p:sp>
    </p:spTree>
    <p:extLst>
      <p:ext uri="{BB962C8B-B14F-4D97-AF65-F5344CB8AC3E}">
        <p14:creationId xmlns:p14="http://schemas.microsoft.com/office/powerpoint/2010/main" val="3987234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BF6F-6BC5-439D-415F-EEF8629F3A5D}"/>
              </a:ext>
            </a:extLst>
          </p:cNvPr>
          <p:cNvSpPr>
            <a:spLocks noGrp="1"/>
          </p:cNvSpPr>
          <p:nvPr>
            <p:ph type="title"/>
          </p:nvPr>
        </p:nvSpPr>
        <p:spPr/>
        <p:txBody>
          <a:bodyPr/>
          <a:lstStyle/>
          <a:p>
            <a:r>
              <a:rPr lang="en-US" dirty="0"/>
              <a:t>rouge</a:t>
            </a:r>
          </a:p>
        </p:txBody>
      </p:sp>
      <p:sp>
        <p:nvSpPr>
          <p:cNvPr id="3" name="Content Placeholder 2">
            <a:extLst>
              <a:ext uri="{FF2B5EF4-FFF2-40B4-BE49-F238E27FC236}">
                <a16:creationId xmlns:a16="http://schemas.microsoft.com/office/drawing/2014/main" id="{F2FEE89B-5512-A5D6-1CD8-41D4F7629D21}"/>
              </a:ext>
            </a:extLst>
          </p:cNvPr>
          <p:cNvSpPr>
            <a:spLocks noGrp="1"/>
          </p:cNvSpPr>
          <p:nvPr>
            <p:ph idx="1"/>
          </p:nvPr>
        </p:nvSpPr>
        <p:spPr/>
        <p:txBody>
          <a:bodyPr>
            <a:normAutofit/>
          </a:bodyPr>
          <a:lstStyle/>
          <a:p>
            <a:r>
              <a:rPr lang="en-US" dirty="0">
                <a:solidFill>
                  <a:srgbClr val="161616"/>
                </a:solidFill>
                <a:effectLst/>
                <a:latin typeface="Helvetica" pitchFamily="2" charset="0"/>
              </a:rPr>
              <a:t>As opposed to the BLEU score, the Recall-Oriented Understudy for </a:t>
            </a:r>
            <a:r>
              <a:rPr lang="en-US" dirty="0" err="1">
                <a:solidFill>
                  <a:srgbClr val="161616"/>
                </a:solidFill>
                <a:effectLst/>
                <a:latin typeface="Helvetica" pitchFamily="2" charset="0"/>
              </a:rPr>
              <a:t>Gisting</a:t>
            </a:r>
            <a:r>
              <a:rPr lang="en-US" dirty="0">
                <a:solidFill>
                  <a:srgbClr val="161616"/>
                </a:solidFill>
                <a:effectLst/>
                <a:latin typeface="Helvetica" pitchFamily="2" charset="0"/>
              </a:rPr>
              <a:t> Evaluation (ROUGE) evaluation metric measures the recall. </a:t>
            </a:r>
          </a:p>
          <a:p>
            <a:r>
              <a:rPr lang="en-US" dirty="0">
                <a:solidFill>
                  <a:srgbClr val="161616"/>
                </a:solidFill>
                <a:effectLst/>
                <a:latin typeface="Helvetica" pitchFamily="2" charset="0"/>
              </a:rPr>
              <a:t>It’s typically used for evaluating the quality of generated text and in machine translation tasks. </a:t>
            </a:r>
          </a:p>
          <a:p>
            <a:r>
              <a:rPr lang="en-US" dirty="0">
                <a:solidFill>
                  <a:srgbClr val="161616"/>
                </a:solidFill>
                <a:effectLst/>
                <a:latin typeface="Helvetica" pitchFamily="2" charset="0"/>
              </a:rPr>
              <a:t>However, since it measures recall, it's used in summarization tasks. It’s more important to evaluate the number of words the model can recall in these types of tasks.</a:t>
            </a:r>
          </a:p>
          <a:p>
            <a:endParaRPr lang="en-US" dirty="0"/>
          </a:p>
        </p:txBody>
      </p:sp>
    </p:spTree>
    <p:extLst>
      <p:ext uri="{BB962C8B-B14F-4D97-AF65-F5344CB8AC3E}">
        <p14:creationId xmlns:p14="http://schemas.microsoft.com/office/powerpoint/2010/main" val="16609113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CCF24-DCCB-9455-DD31-2AE7556900AD}"/>
              </a:ext>
            </a:extLst>
          </p:cNvPr>
          <p:cNvSpPr>
            <a:spLocks noGrp="1"/>
          </p:cNvSpPr>
          <p:nvPr>
            <p:ph type="title"/>
          </p:nvPr>
        </p:nvSpPr>
        <p:spPr/>
        <p:txBody>
          <a:bodyPr/>
          <a:lstStyle/>
          <a:p>
            <a:r>
              <a:rPr lang="en-US" dirty="0"/>
              <a:t>Rouge-n </a:t>
            </a:r>
            <a:r>
              <a:rPr lang="en-US" dirty="0" err="1"/>
              <a:t>v.s</a:t>
            </a:r>
            <a:r>
              <a:rPr lang="en-US" dirty="0"/>
              <a:t>. rouge-l</a:t>
            </a:r>
          </a:p>
        </p:txBody>
      </p:sp>
      <p:sp>
        <p:nvSpPr>
          <p:cNvPr id="3" name="Content Placeholder 2">
            <a:extLst>
              <a:ext uri="{FF2B5EF4-FFF2-40B4-BE49-F238E27FC236}">
                <a16:creationId xmlns:a16="http://schemas.microsoft.com/office/drawing/2014/main" id="{1CAFF41D-F532-0044-5CB0-51FFE74C483B}"/>
              </a:ext>
            </a:extLst>
          </p:cNvPr>
          <p:cNvSpPr>
            <a:spLocks noGrp="1"/>
          </p:cNvSpPr>
          <p:nvPr>
            <p:ph idx="1"/>
          </p:nvPr>
        </p:nvSpPr>
        <p:spPr>
          <a:xfrm>
            <a:off x="1135118" y="2299255"/>
            <a:ext cx="6873764" cy="3836327"/>
          </a:xfrm>
        </p:spPr>
        <p:txBody>
          <a:bodyPr>
            <a:normAutofit lnSpcReduction="10000"/>
          </a:bodyPr>
          <a:lstStyle/>
          <a:p>
            <a:r>
              <a:rPr lang="en-US" sz="1400" dirty="0">
                <a:solidFill>
                  <a:srgbClr val="161616"/>
                </a:solidFill>
                <a:effectLst/>
                <a:latin typeface="Helvetica" pitchFamily="2" charset="0"/>
              </a:rPr>
              <a:t>The most popular evaluation metrics from the ROUGE class are ROUGE-N and ROUGE-L:</a:t>
            </a:r>
          </a:p>
          <a:p>
            <a:r>
              <a:rPr lang="en-US" sz="1400" dirty="0">
                <a:solidFill>
                  <a:srgbClr val="161616"/>
                </a:solidFill>
                <a:effectLst/>
                <a:latin typeface="Helvetica" pitchFamily="2" charset="0"/>
              </a:rPr>
              <a:t>Rouge-N: measures the number of matching 'n-grams' between a reference (a) and test (b) strings. </a:t>
            </a:r>
          </a:p>
          <a:p>
            <a:endParaRPr lang="en-US" sz="1400" dirty="0">
              <a:solidFill>
                <a:srgbClr val="161616"/>
              </a:solidFill>
              <a:latin typeface="Helvetica" pitchFamily="2" charset="0"/>
            </a:endParaRPr>
          </a:p>
          <a:p>
            <a:endParaRPr lang="en-US" sz="1400" dirty="0">
              <a:solidFill>
                <a:srgbClr val="161616"/>
              </a:solidFill>
              <a:effectLst/>
              <a:latin typeface="Helvetica" pitchFamily="2" charset="0"/>
            </a:endParaRPr>
          </a:p>
          <a:p>
            <a:endParaRPr lang="en-US" sz="1400" dirty="0">
              <a:solidFill>
                <a:srgbClr val="161616"/>
              </a:solidFill>
              <a:effectLst/>
              <a:latin typeface="Helvetica" pitchFamily="2" charset="0"/>
            </a:endParaRPr>
          </a:p>
          <a:p>
            <a:r>
              <a:rPr lang="en-US" sz="1400" dirty="0">
                <a:solidFill>
                  <a:srgbClr val="161616"/>
                </a:solidFill>
                <a:effectLst/>
                <a:latin typeface="Helvetica" pitchFamily="2" charset="0"/>
              </a:rPr>
              <a:t>Rouge-L: measures the longest common subsequence (LCS) between a reference (a) and test (b) string. </a:t>
            </a:r>
          </a:p>
          <a:p>
            <a:endParaRPr lang="en-US" sz="1400" dirty="0">
              <a:solidFill>
                <a:srgbClr val="161616"/>
              </a:solidFill>
              <a:latin typeface="Helvetica" pitchFamily="2" charset="0"/>
            </a:endParaRPr>
          </a:p>
          <a:p>
            <a:endParaRPr lang="en-US" sz="1400" dirty="0">
              <a:solidFill>
                <a:srgbClr val="161616"/>
              </a:solidFill>
              <a:effectLst/>
              <a:latin typeface="Helvetica" pitchFamily="2" charset="0"/>
            </a:endParaRPr>
          </a:p>
          <a:p>
            <a:endParaRPr lang="en-US" sz="1400" dirty="0">
              <a:solidFill>
                <a:srgbClr val="161616"/>
              </a:solidFill>
              <a:effectLst/>
              <a:latin typeface="Helvetica" pitchFamily="2" charset="0"/>
            </a:endParaRPr>
          </a:p>
          <a:p>
            <a:r>
              <a:rPr lang="en-US" sz="1400" dirty="0">
                <a:solidFill>
                  <a:srgbClr val="161616"/>
                </a:solidFill>
                <a:effectLst/>
                <a:latin typeface="Helvetica" pitchFamily="2" charset="0"/>
              </a:rPr>
              <a:t>For both Rouge-N and Rouge-L: </a:t>
            </a:r>
          </a:p>
          <a:p>
            <a:endParaRPr lang="en-US" sz="1400" dirty="0">
              <a:solidFill>
                <a:srgbClr val="161616"/>
              </a:solidFill>
              <a:effectLst/>
              <a:latin typeface="Helvetica" pitchFamily="2" charset="0"/>
            </a:endParaRPr>
          </a:p>
          <a:p>
            <a:endParaRPr lang="en-US" sz="1400" dirty="0"/>
          </a:p>
        </p:txBody>
      </p:sp>
      <p:pic>
        <p:nvPicPr>
          <p:cNvPr id="5" name="Picture 4" descr="A group of black text&#10;&#10;Description automatically generated">
            <a:extLst>
              <a:ext uri="{FF2B5EF4-FFF2-40B4-BE49-F238E27FC236}">
                <a16:creationId xmlns:a16="http://schemas.microsoft.com/office/drawing/2014/main" id="{67398C59-0244-0561-C5D4-855A575BAD31}"/>
              </a:ext>
            </a:extLst>
          </p:cNvPr>
          <p:cNvPicPr>
            <a:picLocks noChangeAspect="1"/>
          </p:cNvPicPr>
          <p:nvPr/>
        </p:nvPicPr>
        <p:blipFill>
          <a:blip r:embed="rId2"/>
          <a:stretch>
            <a:fillRect/>
          </a:stretch>
        </p:blipFill>
        <p:spPr>
          <a:xfrm>
            <a:off x="3167994" y="3301995"/>
            <a:ext cx="2423511" cy="841851"/>
          </a:xfrm>
          <a:prstGeom prst="rect">
            <a:avLst/>
          </a:prstGeom>
        </p:spPr>
      </p:pic>
      <p:pic>
        <p:nvPicPr>
          <p:cNvPr id="7" name="Picture 6" descr="A math equations with black text&#10;&#10;Description automatically generated">
            <a:extLst>
              <a:ext uri="{FF2B5EF4-FFF2-40B4-BE49-F238E27FC236}">
                <a16:creationId xmlns:a16="http://schemas.microsoft.com/office/drawing/2014/main" id="{25C7BDC1-D872-5373-FED4-245ABB5759A8}"/>
              </a:ext>
            </a:extLst>
          </p:cNvPr>
          <p:cNvPicPr>
            <a:picLocks noChangeAspect="1"/>
          </p:cNvPicPr>
          <p:nvPr/>
        </p:nvPicPr>
        <p:blipFill>
          <a:blip r:embed="rId3"/>
          <a:stretch>
            <a:fillRect/>
          </a:stretch>
        </p:blipFill>
        <p:spPr>
          <a:xfrm>
            <a:off x="3424840" y="4912030"/>
            <a:ext cx="1840843" cy="722949"/>
          </a:xfrm>
          <a:prstGeom prst="rect">
            <a:avLst/>
          </a:prstGeom>
        </p:spPr>
      </p:pic>
      <p:pic>
        <p:nvPicPr>
          <p:cNvPr id="9" name="Picture 8" descr="A black text on a white background&#10;&#10;Description automatically generated">
            <a:extLst>
              <a:ext uri="{FF2B5EF4-FFF2-40B4-BE49-F238E27FC236}">
                <a16:creationId xmlns:a16="http://schemas.microsoft.com/office/drawing/2014/main" id="{222FCE14-1610-C83B-98CF-E664E28E1D89}"/>
              </a:ext>
            </a:extLst>
          </p:cNvPr>
          <p:cNvPicPr>
            <a:picLocks noChangeAspect="1"/>
          </p:cNvPicPr>
          <p:nvPr/>
        </p:nvPicPr>
        <p:blipFill>
          <a:blip r:embed="rId4"/>
          <a:stretch>
            <a:fillRect/>
          </a:stretch>
        </p:blipFill>
        <p:spPr>
          <a:xfrm>
            <a:off x="3459327" y="6142804"/>
            <a:ext cx="1840843" cy="520717"/>
          </a:xfrm>
          <a:prstGeom prst="rect">
            <a:avLst/>
          </a:prstGeom>
        </p:spPr>
      </p:pic>
    </p:spTree>
    <p:extLst>
      <p:ext uri="{BB962C8B-B14F-4D97-AF65-F5344CB8AC3E}">
        <p14:creationId xmlns:p14="http://schemas.microsoft.com/office/powerpoint/2010/main" val="2655682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9CE45-2306-03B4-929A-6DDA7AE133F2}"/>
              </a:ext>
            </a:extLst>
          </p:cNvPr>
          <p:cNvSpPr>
            <a:spLocks noGrp="1"/>
          </p:cNvSpPr>
          <p:nvPr>
            <p:ph type="title"/>
          </p:nvPr>
        </p:nvSpPr>
        <p:spPr/>
        <p:txBody>
          <a:bodyPr/>
          <a:lstStyle/>
          <a:p>
            <a:r>
              <a:rPr lang="en-US" dirty="0"/>
              <a:t>Example (ROUGE-1)</a:t>
            </a:r>
          </a:p>
        </p:txBody>
      </p:sp>
      <p:sp>
        <p:nvSpPr>
          <p:cNvPr id="3" name="Content Placeholder 2">
            <a:extLst>
              <a:ext uri="{FF2B5EF4-FFF2-40B4-BE49-F238E27FC236}">
                <a16:creationId xmlns:a16="http://schemas.microsoft.com/office/drawing/2014/main" id="{695F0F1F-9951-413B-402C-F84D7CB9A191}"/>
              </a:ext>
            </a:extLst>
          </p:cNvPr>
          <p:cNvSpPr>
            <a:spLocks noGrp="1"/>
          </p:cNvSpPr>
          <p:nvPr>
            <p:ph idx="1"/>
          </p:nvPr>
        </p:nvSpPr>
        <p:spPr>
          <a:xfrm>
            <a:off x="1606046" y="2638046"/>
            <a:ext cx="5488438" cy="2448962"/>
          </a:xfrm>
        </p:spPr>
        <p:txBody>
          <a:bodyPr>
            <a:normAutofit fontScale="92500" lnSpcReduction="20000"/>
          </a:bodyPr>
          <a:lstStyle/>
          <a:p>
            <a:r>
              <a:rPr lang="en-US" b="1" dirty="0"/>
              <a:t>Reference (a):</a:t>
            </a:r>
            <a:r>
              <a:rPr lang="en-US" dirty="0"/>
              <a:t> “the cat is on the mat”</a:t>
            </a:r>
            <a:br>
              <a:rPr lang="en-US" dirty="0"/>
            </a:br>
            <a:r>
              <a:rPr lang="en-US" b="1" dirty="0"/>
              <a:t>Candidate (b):</a:t>
            </a:r>
            <a:r>
              <a:rPr lang="en-US" dirty="0"/>
              <a:t> “the cat sat on the mat”</a:t>
            </a:r>
          </a:p>
          <a:p>
            <a:pPr>
              <a:buFont typeface="Arial" panose="020B0604020202020204" pitchFamily="34" charset="0"/>
              <a:buChar char="•"/>
            </a:pPr>
            <a:r>
              <a:rPr lang="en-US" b="1" dirty="0"/>
              <a:t>Unigrams in a (reference):</a:t>
            </a:r>
            <a:r>
              <a:rPr lang="en-US" dirty="0"/>
              <a:t> {the, cat, is, on, the, mat} → 6 tokens</a:t>
            </a:r>
          </a:p>
          <a:p>
            <a:pPr>
              <a:buFont typeface="Arial" panose="020B0604020202020204" pitchFamily="34" charset="0"/>
              <a:buChar char="•"/>
            </a:pPr>
            <a:r>
              <a:rPr lang="en-US" b="1" dirty="0"/>
              <a:t>Unigrams in b (candidate):</a:t>
            </a:r>
            <a:r>
              <a:rPr lang="en-US" dirty="0"/>
              <a:t> {the, cat, sat, on, the, mat} → 6 tokens</a:t>
            </a:r>
          </a:p>
          <a:p>
            <a:r>
              <a:rPr lang="en-US" b="1" dirty="0"/>
              <a:t>Overlap (clipped):</a:t>
            </a:r>
            <a:r>
              <a:rPr lang="en-US" dirty="0"/>
              <a:t> the×2, cat×1, on×1, mat×1 → total </a:t>
            </a:r>
            <a:r>
              <a:rPr lang="en-US" b="1" dirty="0"/>
              <a:t>5 overlaps</a:t>
            </a:r>
            <a:br>
              <a:rPr lang="en-US" dirty="0"/>
            </a:br>
            <a:r>
              <a:rPr lang="en-US" dirty="0"/>
              <a:t>(“sat” doesn’t match; “is” is missing)</a:t>
            </a:r>
          </a:p>
          <a:p>
            <a:endParaRPr lang="en-US" dirty="0"/>
          </a:p>
        </p:txBody>
      </p:sp>
      <p:pic>
        <p:nvPicPr>
          <p:cNvPr id="5" name="Picture 4" descr="A math equations and numbers&#10;&#10;Description automatically generated">
            <a:extLst>
              <a:ext uri="{FF2B5EF4-FFF2-40B4-BE49-F238E27FC236}">
                <a16:creationId xmlns:a16="http://schemas.microsoft.com/office/drawing/2014/main" id="{7162AFE4-21F4-9F32-8CC6-1E2CA2A0C6E2}"/>
              </a:ext>
            </a:extLst>
          </p:cNvPr>
          <p:cNvPicPr>
            <a:picLocks noChangeAspect="1"/>
          </p:cNvPicPr>
          <p:nvPr/>
        </p:nvPicPr>
        <p:blipFill>
          <a:blip r:embed="rId2"/>
          <a:stretch>
            <a:fillRect/>
          </a:stretch>
        </p:blipFill>
        <p:spPr>
          <a:xfrm>
            <a:off x="3190437" y="5268190"/>
            <a:ext cx="2763126" cy="1250236"/>
          </a:xfrm>
          <a:prstGeom prst="rect">
            <a:avLst/>
          </a:prstGeom>
        </p:spPr>
      </p:pic>
    </p:spTree>
    <p:extLst>
      <p:ext uri="{BB962C8B-B14F-4D97-AF65-F5344CB8AC3E}">
        <p14:creationId xmlns:p14="http://schemas.microsoft.com/office/powerpoint/2010/main" val="2925826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FE264-0FBA-A164-5BE0-74A4A222920F}"/>
              </a:ext>
            </a:extLst>
          </p:cNvPr>
          <p:cNvSpPr>
            <a:spLocks noGrp="1"/>
          </p:cNvSpPr>
          <p:nvPr>
            <p:ph type="title"/>
          </p:nvPr>
        </p:nvSpPr>
        <p:spPr/>
        <p:txBody>
          <a:bodyPr/>
          <a:lstStyle/>
          <a:p>
            <a:r>
              <a:rPr lang="en-US" dirty="0"/>
              <a:t>Example (rouge-l)</a:t>
            </a:r>
          </a:p>
        </p:txBody>
      </p:sp>
      <p:sp>
        <p:nvSpPr>
          <p:cNvPr id="3" name="Content Placeholder 2">
            <a:extLst>
              <a:ext uri="{FF2B5EF4-FFF2-40B4-BE49-F238E27FC236}">
                <a16:creationId xmlns:a16="http://schemas.microsoft.com/office/drawing/2014/main" id="{108B58B0-F8F5-87F4-768D-EA1C318F56D3}"/>
              </a:ext>
            </a:extLst>
          </p:cNvPr>
          <p:cNvSpPr>
            <a:spLocks noGrp="1"/>
          </p:cNvSpPr>
          <p:nvPr>
            <p:ph idx="1"/>
          </p:nvPr>
        </p:nvSpPr>
        <p:spPr/>
        <p:txBody>
          <a:bodyPr/>
          <a:lstStyle/>
          <a:p>
            <a:r>
              <a:rPr lang="en-US" b="1" dirty="0"/>
              <a:t>Reference (a):</a:t>
            </a:r>
            <a:r>
              <a:rPr lang="en-US" dirty="0"/>
              <a:t> “the cat is on the mat” (6 unigrams)</a:t>
            </a:r>
            <a:br>
              <a:rPr lang="en-US" dirty="0"/>
            </a:br>
            <a:r>
              <a:rPr lang="en-US" b="1" dirty="0"/>
              <a:t>Candidate (b):</a:t>
            </a:r>
            <a:r>
              <a:rPr lang="en-US" dirty="0"/>
              <a:t> “the cat sat on the mat” (6 unigrams)</a:t>
            </a:r>
          </a:p>
          <a:p>
            <a:pPr>
              <a:buFont typeface="Arial" panose="020B0604020202020204" pitchFamily="34" charset="0"/>
              <a:buChar char="•"/>
            </a:pPr>
            <a:r>
              <a:rPr lang="en-US" b="1" dirty="0"/>
              <a:t>Longest Common Subsequence (LCS):</a:t>
            </a:r>
            <a:br>
              <a:rPr lang="en-US" dirty="0"/>
            </a:br>
            <a:r>
              <a:rPr lang="en-US" dirty="0"/>
              <a:t>“the cat on the mat” → length = </a:t>
            </a:r>
            <a:r>
              <a:rPr lang="en-US" b="1" dirty="0"/>
              <a:t>5</a:t>
            </a:r>
            <a:br>
              <a:rPr lang="en-US" dirty="0"/>
            </a:br>
            <a:r>
              <a:rPr lang="en-US" dirty="0"/>
              <a:t>(we drop “is” from ref and “sat” from cand to align)</a:t>
            </a:r>
          </a:p>
          <a:p>
            <a:endParaRPr lang="en-US" dirty="0"/>
          </a:p>
        </p:txBody>
      </p:sp>
      <p:pic>
        <p:nvPicPr>
          <p:cNvPr id="5" name="Picture 4" descr="A math equations with numbers and symbols&#10;&#10;Description automatically generated">
            <a:extLst>
              <a:ext uri="{FF2B5EF4-FFF2-40B4-BE49-F238E27FC236}">
                <a16:creationId xmlns:a16="http://schemas.microsoft.com/office/drawing/2014/main" id="{B85F2723-AECB-F95B-11F6-393EDE2752B0}"/>
              </a:ext>
            </a:extLst>
          </p:cNvPr>
          <p:cNvPicPr>
            <a:picLocks noChangeAspect="1"/>
          </p:cNvPicPr>
          <p:nvPr/>
        </p:nvPicPr>
        <p:blipFill>
          <a:blip r:embed="rId2"/>
          <a:stretch>
            <a:fillRect/>
          </a:stretch>
        </p:blipFill>
        <p:spPr>
          <a:xfrm>
            <a:off x="2908081" y="4484632"/>
            <a:ext cx="3390900" cy="1714500"/>
          </a:xfrm>
          <a:prstGeom prst="rect">
            <a:avLst/>
          </a:prstGeom>
        </p:spPr>
      </p:pic>
    </p:spTree>
    <p:extLst>
      <p:ext uri="{BB962C8B-B14F-4D97-AF65-F5344CB8AC3E}">
        <p14:creationId xmlns:p14="http://schemas.microsoft.com/office/powerpoint/2010/main" val="4067149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651D7-69BE-506C-762E-7C3F0C40E468}"/>
              </a:ext>
            </a:extLst>
          </p:cNvPr>
          <p:cNvSpPr>
            <a:spLocks noGrp="1"/>
          </p:cNvSpPr>
          <p:nvPr>
            <p:ph type="title"/>
          </p:nvPr>
        </p:nvSpPr>
        <p:spPr/>
        <p:txBody>
          <a:bodyPr/>
          <a:lstStyle/>
          <a:p>
            <a:r>
              <a:rPr lang="en-US" dirty="0"/>
              <a:t>What is lcs?</a:t>
            </a:r>
          </a:p>
        </p:txBody>
      </p:sp>
      <p:sp>
        <p:nvSpPr>
          <p:cNvPr id="3" name="Content Placeholder 2">
            <a:extLst>
              <a:ext uri="{FF2B5EF4-FFF2-40B4-BE49-F238E27FC236}">
                <a16:creationId xmlns:a16="http://schemas.microsoft.com/office/drawing/2014/main" id="{3B8AD628-9534-7033-8A5A-D60169F965DD}"/>
              </a:ext>
            </a:extLst>
          </p:cNvPr>
          <p:cNvSpPr>
            <a:spLocks noGrp="1"/>
          </p:cNvSpPr>
          <p:nvPr>
            <p:ph idx="1"/>
          </p:nvPr>
        </p:nvSpPr>
        <p:spPr/>
        <p:txBody>
          <a:bodyPr>
            <a:normAutofit lnSpcReduction="10000"/>
          </a:bodyPr>
          <a:lstStyle/>
          <a:p>
            <a:pPr>
              <a:buFont typeface="Arial" panose="020B0604020202020204" pitchFamily="34" charset="0"/>
              <a:buChar char="•"/>
            </a:pPr>
            <a:r>
              <a:rPr lang="en-US" dirty="0"/>
              <a:t>A </a:t>
            </a:r>
            <a:r>
              <a:rPr lang="en-US" b="1" dirty="0"/>
              <a:t>subsequence</a:t>
            </a:r>
            <a:r>
              <a:rPr lang="en-US" dirty="0"/>
              <a:t> is a sequence that can be derived by deleting some elements (possibly none) from a sequence </a:t>
            </a:r>
            <a:r>
              <a:rPr lang="en-US" b="1" dirty="0"/>
              <a:t>without changing the order</a:t>
            </a:r>
            <a:r>
              <a:rPr lang="en-US" dirty="0"/>
              <a:t> of the remaining elements.</a:t>
            </a:r>
          </a:p>
          <a:p>
            <a:pPr>
              <a:buFont typeface="Arial" panose="020B0604020202020204" pitchFamily="34" charset="0"/>
              <a:buChar char="•"/>
            </a:pPr>
            <a:r>
              <a:rPr lang="en-US" dirty="0"/>
              <a:t>The </a:t>
            </a:r>
            <a:r>
              <a:rPr lang="en-US" b="1" dirty="0"/>
              <a:t>Longest Common Subsequence (LCS)</a:t>
            </a:r>
            <a:r>
              <a:rPr lang="en-US" dirty="0"/>
              <a:t> of two strings is the longest subsequence that appears in both.</a:t>
            </a:r>
          </a:p>
          <a:p>
            <a:pPr>
              <a:buFont typeface="Arial" panose="020B0604020202020204" pitchFamily="34" charset="0"/>
              <a:buChar char="•"/>
            </a:pPr>
            <a:r>
              <a:rPr lang="en-US" dirty="0"/>
              <a:t>Example:</a:t>
            </a:r>
          </a:p>
          <a:p>
            <a:pPr marL="742950" lvl="1" indent="-285750">
              <a:buFont typeface="Arial" panose="020B0604020202020204" pitchFamily="34" charset="0"/>
              <a:buChar char="•"/>
            </a:pPr>
            <a:r>
              <a:rPr lang="en-US" dirty="0"/>
              <a:t>Ref: “the cat is on the mat”</a:t>
            </a:r>
          </a:p>
          <a:p>
            <a:pPr marL="742950" lvl="1" indent="-285750">
              <a:buFont typeface="Arial" panose="020B0604020202020204" pitchFamily="34" charset="0"/>
              <a:buChar char="•"/>
            </a:pPr>
            <a:r>
              <a:rPr lang="en-US" dirty="0"/>
              <a:t>Cand: “the cat sat on the mat”</a:t>
            </a:r>
          </a:p>
          <a:p>
            <a:pPr marL="742950" lvl="1" indent="-285750">
              <a:buFont typeface="Arial" panose="020B0604020202020204" pitchFamily="34" charset="0"/>
              <a:buChar char="•"/>
            </a:pPr>
            <a:r>
              <a:rPr lang="en-US" dirty="0"/>
              <a:t>LCS = “the cat on the mat” (length 5).</a:t>
            </a:r>
          </a:p>
          <a:p>
            <a:endParaRPr lang="en-US" dirty="0"/>
          </a:p>
        </p:txBody>
      </p:sp>
    </p:spTree>
    <p:extLst>
      <p:ext uri="{BB962C8B-B14F-4D97-AF65-F5344CB8AC3E}">
        <p14:creationId xmlns:p14="http://schemas.microsoft.com/office/powerpoint/2010/main" val="2189481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3982E-BB45-6ADF-D082-8C99B2AEA9AF}"/>
              </a:ext>
            </a:extLst>
          </p:cNvPr>
          <p:cNvSpPr>
            <a:spLocks noGrp="1"/>
          </p:cNvSpPr>
          <p:nvPr>
            <p:ph type="title"/>
          </p:nvPr>
        </p:nvSpPr>
        <p:spPr/>
        <p:txBody>
          <a:bodyPr/>
          <a:lstStyle/>
          <a:p>
            <a:r>
              <a:rPr lang="en-US" dirty="0"/>
              <a:t>How to compute lcs</a:t>
            </a:r>
          </a:p>
        </p:txBody>
      </p:sp>
      <p:sp>
        <p:nvSpPr>
          <p:cNvPr id="3" name="Content Placeholder 2">
            <a:extLst>
              <a:ext uri="{FF2B5EF4-FFF2-40B4-BE49-F238E27FC236}">
                <a16:creationId xmlns:a16="http://schemas.microsoft.com/office/drawing/2014/main" id="{978751FE-E67F-5EE4-63CC-C4C60B594742}"/>
              </a:ext>
            </a:extLst>
          </p:cNvPr>
          <p:cNvSpPr>
            <a:spLocks noGrp="1"/>
          </p:cNvSpPr>
          <p:nvPr>
            <p:ph idx="1"/>
          </p:nvPr>
        </p:nvSpPr>
        <p:spPr/>
        <p:txBody>
          <a:bodyPr/>
          <a:lstStyle/>
          <a:p>
            <a:r>
              <a:rPr lang="en-US" dirty="0"/>
              <a:t>It’s a classic dynamic programming problem (you won’t have to solve the below except in very obvious cases)</a:t>
            </a:r>
          </a:p>
        </p:txBody>
      </p:sp>
      <p:pic>
        <p:nvPicPr>
          <p:cNvPr id="5" name="Picture 4" descr="A math problem with black text&#10;&#10;Description automatically generated with medium confidence">
            <a:extLst>
              <a:ext uri="{FF2B5EF4-FFF2-40B4-BE49-F238E27FC236}">
                <a16:creationId xmlns:a16="http://schemas.microsoft.com/office/drawing/2014/main" id="{1A02635C-ECC9-6F0D-AEE4-DD137CECD246}"/>
              </a:ext>
            </a:extLst>
          </p:cNvPr>
          <p:cNvPicPr>
            <a:picLocks noChangeAspect="1"/>
          </p:cNvPicPr>
          <p:nvPr/>
        </p:nvPicPr>
        <p:blipFill>
          <a:blip r:embed="rId2"/>
          <a:stretch>
            <a:fillRect/>
          </a:stretch>
        </p:blipFill>
        <p:spPr>
          <a:xfrm>
            <a:off x="1511958" y="3740408"/>
            <a:ext cx="6581008" cy="2236943"/>
          </a:xfrm>
          <a:prstGeom prst="rect">
            <a:avLst/>
          </a:prstGeom>
        </p:spPr>
      </p:pic>
    </p:spTree>
    <p:extLst>
      <p:ext uri="{BB962C8B-B14F-4D97-AF65-F5344CB8AC3E}">
        <p14:creationId xmlns:p14="http://schemas.microsoft.com/office/powerpoint/2010/main" val="10001512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EC09B-27BD-B184-803C-48AAA4073AA0}"/>
              </a:ext>
            </a:extLst>
          </p:cNvPr>
          <p:cNvSpPr>
            <a:spLocks noGrp="1"/>
          </p:cNvSpPr>
          <p:nvPr>
            <p:ph type="title"/>
          </p:nvPr>
        </p:nvSpPr>
        <p:spPr/>
        <p:txBody>
          <a:bodyPr/>
          <a:lstStyle/>
          <a:p>
            <a:r>
              <a:rPr lang="en-US" dirty="0"/>
              <a:t>Worked example</a:t>
            </a:r>
          </a:p>
        </p:txBody>
      </p:sp>
      <p:sp>
        <p:nvSpPr>
          <p:cNvPr id="3" name="Content Placeholder 2">
            <a:extLst>
              <a:ext uri="{FF2B5EF4-FFF2-40B4-BE49-F238E27FC236}">
                <a16:creationId xmlns:a16="http://schemas.microsoft.com/office/drawing/2014/main" id="{5C511587-6BD3-69F5-2223-9B4191909054}"/>
              </a:ext>
            </a:extLst>
          </p:cNvPr>
          <p:cNvSpPr>
            <a:spLocks noGrp="1"/>
          </p:cNvSpPr>
          <p:nvPr>
            <p:ph idx="1"/>
          </p:nvPr>
        </p:nvSpPr>
        <p:spPr/>
        <p:txBody>
          <a:bodyPr/>
          <a:lstStyle/>
          <a:p>
            <a:r>
              <a:rPr lang="en-US" dirty="0"/>
              <a:t>Ref: a b c d e</a:t>
            </a:r>
            <a:br>
              <a:rPr lang="en-US" dirty="0"/>
            </a:br>
            <a:r>
              <a:rPr lang="en-US" dirty="0"/>
              <a:t>Cand: a c e</a:t>
            </a:r>
          </a:p>
          <a:p>
            <a:r>
              <a:rPr lang="en-US" dirty="0"/>
              <a:t>DP table evolves like this (showing only matches):</a:t>
            </a:r>
          </a:p>
          <a:p>
            <a:pPr>
              <a:buFont typeface="Arial" panose="020B0604020202020204" pitchFamily="34" charset="0"/>
              <a:buChar char="•"/>
            </a:pPr>
            <a:r>
              <a:rPr lang="en-US" dirty="0"/>
              <a:t>LCS = a c e → length 3.</a:t>
            </a:r>
          </a:p>
          <a:p>
            <a:endParaRPr lang="en-US" dirty="0"/>
          </a:p>
        </p:txBody>
      </p:sp>
    </p:spTree>
    <p:extLst>
      <p:ext uri="{BB962C8B-B14F-4D97-AF65-F5344CB8AC3E}">
        <p14:creationId xmlns:p14="http://schemas.microsoft.com/office/powerpoint/2010/main" val="2810041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06D8F-6AFF-A9BE-AE34-2512312776F0}"/>
              </a:ext>
            </a:extLst>
          </p:cNvPr>
          <p:cNvSpPr>
            <a:spLocks noGrp="1"/>
          </p:cNvSpPr>
          <p:nvPr>
            <p:ph type="title"/>
          </p:nvPr>
        </p:nvSpPr>
        <p:spPr/>
        <p:txBody>
          <a:bodyPr/>
          <a:lstStyle/>
          <a:p>
            <a:r>
              <a:rPr lang="en-US" dirty="0"/>
              <a:t>comparison</a:t>
            </a:r>
          </a:p>
        </p:txBody>
      </p:sp>
      <p:sp>
        <p:nvSpPr>
          <p:cNvPr id="3" name="Content Placeholder 2">
            <a:extLst>
              <a:ext uri="{FF2B5EF4-FFF2-40B4-BE49-F238E27FC236}">
                <a16:creationId xmlns:a16="http://schemas.microsoft.com/office/drawing/2014/main" id="{16A34B83-FD84-68DE-E067-9D14E7F58137}"/>
              </a:ext>
            </a:extLst>
          </p:cNvPr>
          <p:cNvSpPr>
            <a:spLocks noGrp="1"/>
          </p:cNvSpPr>
          <p:nvPr>
            <p:ph idx="1"/>
          </p:nvPr>
        </p:nvSpPr>
        <p:spPr/>
        <p:txBody>
          <a:bodyPr/>
          <a:lstStyle/>
          <a:p>
            <a:r>
              <a:rPr lang="en-US" dirty="0"/>
              <a:t>ROUGE-N cares about </a:t>
            </a:r>
            <a:r>
              <a:rPr lang="en-US" b="1" dirty="0"/>
              <a:t>matching words (or n-grams)</a:t>
            </a:r>
            <a:r>
              <a:rPr lang="en-US" dirty="0"/>
              <a:t>, ignoring order beyond the n.</a:t>
            </a:r>
          </a:p>
          <a:p>
            <a:r>
              <a:rPr lang="en-US" dirty="0"/>
              <a:t>ROUGE-L cares about the </a:t>
            </a:r>
            <a:r>
              <a:rPr lang="en-US" b="1" dirty="0"/>
              <a:t>longest matching sequence</a:t>
            </a:r>
            <a:r>
              <a:rPr lang="en-US" dirty="0"/>
              <a:t>, rewarding fluency.</a:t>
            </a:r>
          </a:p>
          <a:p>
            <a:endParaRPr lang="en-US" dirty="0"/>
          </a:p>
        </p:txBody>
      </p:sp>
      <p:sp>
        <p:nvSpPr>
          <p:cNvPr id="4" name="TextBox 3">
            <a:extLst>
              <a:ext uri="{FF2B5EF4-FFF2-40B4-BE49-F238E27FC236}">
                <a16:creationId xmlns:a16="http://schemas.microsoft.com/office/drawing/2014/main" id="{1C1A1A8D-3C53-DE4C-7C4F-F8669BF542C4}"/>
              </a:ext>
            </a:extLst>
          </p:cNvPr>
          <p:cNvSpPr txBox="1"/>
          <p:nvPr/>
        </p:nvSpPr>
        <p:spPr>
          <a:xfrm>
            <a:off x="1866604" y="4335257"/>
            <a:ext cx="6047685" cy="369332"/>
          </a:xfrm>
          <a:prstGeom prst="rect">
            <a:avLst/>
          </a:prstGeom>
          <a:noFill/>
        </p:spPr>
        <p:txBody>
          <a:bodyPr wrap="square" rtlCol="0">
            <a:spAutoFit/>
          </a:bodyPr>
          <a:lstStyle/>
          <a:p>
            <a:pPr algn="ctr"/>
            <a:r>
              <a:rPr lang="en-US" u="sng" dirty="0">
                <a:solidFill>
                  <a:srgbClr val="FF0000"/>
                </a:solidFill>
              </a:rPr>
              <a:t>Let’s do an example of both</a:t>
            </a:r>
          </a:p>
        </p:txBody>
      </p:sp>
      <p:sp>
        <p:nvSpPr>
          <p:cNvPr id="6" name="TextBox 5">
            <a:extLst>
              <a:ext uri="{FF2B5EF4-FFF2-40B4-BE49-F238E27FC236}">
                <a16:creationId xmlns:a16="http://schemas.microsoft.com/office/drawing/2014/main" id="{6D2F004E-6F78-D528-3BA0-A9DBD20B19CD}"/>
              </a:ext>
            </a:extLst>
          </p:cNvPr>
          <p:cNvSpPr txBox="1"/>
          <p:nvPr/>
        </p:nvSpPr>
        <p:spPr>
          <a:xfrm>
            <a:off x="2604446" y="4862865"/>
            <a:ext cx="4572000" cy="1754326"/>
          </a:xfrm>
          <a:prstGeom prst="rect">
            <a:avLst/>
          </a:prstGeom>
          <a:noFill/>
        </p:spPr>
        <p:txBody>
          <a:bodyPr wrap="square">
            <a:spAutoFit/>
          </a:bodyPr>
          <a:lstStyle/>
          <a:p>
            <a:r>
              <a:rPr lang="en-US" b="1" dirty="0">
                <a:solidFill>
                  <a:srgbClr val="FF0000"/>
                </a:solidFill>
              </a:rPr>
              <a:t>Reference:</a:t>
            </a:r>
            <a:r>
              <a:rPr lang="en-US" dirty="0">
                <a:solidFill>
                  <a:srgbClr val="FF0000"/>
                </a:solidFill>
              </a:rPr>
              <a:t> “the quick brown fox jumps over the lazy dog”</a:t>
            </a:r>
            <a:br>
              <a:rPr lang="en-US" dirty="0">
                <a:solidFill>
                  <a:srgbClr val="FF0000"/>
                </a:solidFill>
              </a:rPr>
            </a:br>
            <a:r>
              <a:rPr lang="en-US" b="1" dirty="0">
                <a:solidFill>
                  <a:srgbClr val="FF0000"/>
                </a:solidFill>
              </a:rPr>
              <a:t>Candidate:</a:t>
            </a:r>
            <a:r>
              <a:rPr lang="en-US" dirty="0">
                <a:solidFill>
                  <a:srgbClr val="FF0000"/>
                </a:solidFill>
              </a:rPr>
              <a:t> “the fast brown fox jumps over dog”</a:t>
            </a:r>
          </a:p>
          <a:p>
            <a:endParaRPr lang="en-US" dirty="0">
              <a:solidFill>
                <a:srgbClr val="FF0000"/>
              </a:solidFill>
            </a:endParaRPr>
          </a:p>
          <a:p>
            <a:r>
              <a:rPr lang="en-US" i="1" dirty="0">
                <a:solidFill>
                  <a:srgbClr val="FF0000"/>
                </a:solidFill>
              </a:rPr>
              <a:t>What happens if you make ‘quick’ to ‘fast’?</a:t>
            </a:r>
          </a:p>
        </p:txBody>
      </p:sp>
    </p:spTree>
    <p:extLst>
      <p:ext uri="{BB962C8B-B14F-4D97-AF65-F5344CB8AC3E}">
        <p14:creationId xmlns:p14="http://schemas.microsoft.com/office/powerpoint/2010/main" val="1893571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33144-4F8D-3E6B-7707-FD64B90904B5}"/>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E4D41BB4-DB03-9C25-CDA7-73F94A5281C2}"/>
              </a:ext>
            </a:extLst>
          </p:cNvPr>
          <p:cNvSpPr>
            <a:spLocks noGrp="1"/>
          </p:cNvSpPr>
          <p:nvPr>
            <p:ph idx="1"/>
          </p:nvPr>
        </p:nvSpPr>
        <p:spPr>
          <a:xfrm>
            <a:off x="1606045" y="2638045"/>
            <a:ext cx="6055996" cy="3878369"/>
          </a:xfrm>
        </p:spPr>
        <p:txBody>
          <a:bodyPr>
            <a:normAutofit fontScale="70000" lnSpcReduction="20000"/>
          </a:bodyPr>
          <a:lstStyle/>
          <a:p>
            <a:r>
              <a:rPr lang="en-US" b="1" dirty="0"/>
              <a:t>Overlap ≠ meaning</a:t>
            </a:r>
            <a:br>
              <a:rPr lang="en-US" dirty="0"/>
            </a:br>
            <a:r>
              <a:rPr lang="en-US" dirty="0"/>
              <a:t>– Like BLEU, ROUGE only measures surface overlap, not semantic similarity.</a:t>
            </a:r>
            <a:br>
              <a:rPr lang="en-US" dirty="0"/>
            </a:br>
            <a:r>
              <a:rPr lang="en-US" dirty="0"/>
              <a:t>– Synonyms or paraphrases (“doctor” vs. “physician”) are treated as mismatches.</a:t>
            </a:r>
          </a:p>
          <a:p>
            <a:r>
              <a:rPr lang="en-US" b="1" dirty="0"/>
              <a:t>Recall bias</a:t>
            </a:r>
            <a:br>
              <a:rPr lang="en-US" dirty="0"/>
            </a:br>
            <a:r>
              <a:rPr lang="en-US" dirty="0"/>
              <a:t>– ROUGE emphasizes recall (coverage of reference words),</a:t>
            </a:r>
            <a:br>
              <a:rPr lang="en-US" dirty="0"/>
            </a:br>
            <a:r>
              <a:rPr lang="en-US" dirty="0"/>
              <a:t>– May favor </a:t>
            </a:r>
            <a:r>
              <a:rPr lang="en-US" b="1" dirty="0"/>
              <a:t>longer outputs</a:t>
            </a:r>
            <a:r>
              <a:rPr lang="en-US" dirty="0"/>
              <a:t> that repeat reference terms without adding real quality.</a:t>
            </a:r>
          </a:p>
          <a:p>
            <a:r>
              <a:rPr lang="en-US" b="1" dirty="0"/>
              <a:t>Insensitive to fluency/grammar</a:t>
            </a:r>
            <a:br>
              <a:rPr lang="en-US" dirty="0"/>
            </a:br>
            <a:r>
              <a:rPr lang="en-US" dirty="0"/>
              <a:t>– A candidate can have high ROUGE but still be ungrammatical or incoherent.</a:t>
            </a:r>
          </a:p>
          <a:p>
            <a:r>
              <a:rPr lang="en-US" b="1" dirty="0"/>
              <a:t>Single-reference weakness</a:t>
            </a:r>
            <a:br>
              <a:rPr lang="en-US" dirty="0"/>
            </a:br>
            <a:r>
              <a:rPr lang="en-US" dirty="0"/>
              <a:t>– With only one reference, many valid alternative phrasings get unfairly penalized.</a:t>
            </a:r>
            <a:br>
              <a:rPr lang="en-US" dirty="0"/>
            </a:br>
            <a:r>
              <a:rPr lang="en-US" dirty="0"/>
              <a:t>– Multiple references help but are costly to produce.</a:t>
            </a:r>
          </a:p>
          <a:p>
            <a:r>
              <a:rPr lang="en-US" b="1" dirty="0"/>
              <a:t>Not context-aware</a:t>
            </a:r>
            <a:br>
              <a:rPr lang="en-US" dirty="0"/>
            </a:br>
            <a:r>
              <a:rPr lang="en-US" dirty="0"/>
              <a:t>– ROUGE counts n-gram matches but ignores sentence structure, discourse coherence, and factual accuracy.</a:t>
            </a:r>
          </a:p>
          <a:p>
            <a:r>
              <a:rPr lang="en-US" b="1" dirty="0"/>
              <a:t>Weak at fine-grained evaluation</a:t>
            </a:r>
            <a:br>
              <a:rPr lang="en-US" dirty="0"/>
            </a:br>
            <a:r>
              <a:rPr lang="en-US" dirty="0"/>
              <a:t>– Correlation with human judgments is better at corpus level than at single-sentence level.</a:t>
            </a:r>
          </a:p>
          <a:p>
            <a:endParaRPr lang="en-US" dirty="0"/>
          </a:p>
        </p:txBody>
      </p:sp>
    </p:spTree>
    <p:extLst>
      <p:ext uri="{BB962C8B-B14F-4D97-AF65-F5344CB8AC3E}">
        <p14:creationId xmlns:p14="http://schemas.microsoft.com/office/powerpoint/2010/main" val="3806940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1C3FF-A48D-1909-00C9-DAC7FEA8B1B2}"/>
              </a:ext>
            </a:extLst>
          </p:cNvPr>
          <p:cNvSpPr>
            <a:spLocks noGrp="1"/>
          </p:cNvSpPr>
          <p:nvPr>
            <p:ph type="title"/>
          </p:nvPr>
        </p:nvSpPr>
        <p:spPr/>
        <p:txBody>
          <a:bodyPr/>
          <a:lstStyle/>
          <a:p>
            <a:r>
              <a:rPr lang="en-US" dirty="0"/>
              <a:t>other similarity metrics</a:t>
            </a:r>
          </a:p>
        </p:txBody>
      </p:sp>
      <p:sp>
        <p:nvSpPr>
          <p:cNvPr id="3" name="Content Placeholder 2">
            <a:extLst>
              <a:ext uri="{FF2B5EF4-FFF2-40B4-BE49-F238E27FC236}">
                <a16:creationId xmlns:a16="http://schemas.microsoft.com/office/drawing/2014/main" id="{2658820B-6657-C6E7-2EBD-075A9A1CE7F3}"/>
              </a:ext>
            </a:extLst>
          </p:cNvPr>
          <p:cNvSpPr>
            <a:spLocks noGrp="1"/>
          </p:cNvSpPr>
          <p:nvPr>
            <p:ph idx="1"/>
          </p:nvPr>
        </p:nvSpPr>
        <p:spPr>
          <a:xfrm>
            <a:off x="1606045" y="2585493"/>
            <a:ext cx="5937755" cy="3909900"/>
          </a:xfrm>
        </p:spPr>
        <p:txBody>
          <a:bodyPr>
            <a:normAutofit fontScale="92500" lnSpcReduction="20000"/>
          </a:bodyPr>
          <a:lstStyle/>
          <a:p>
            <a:r>
              <a:rPr lang="en-US" b="1" dirty="0">
                <a:solidFill>
                  <a:srgbClr val="161616"/>
                </a:solidFill>
                <a:effectLst/>
                <a:latin typeface="Helvetica" pitchFamily="2" charset="0"/>
              </a:rPr>
              <a:t>Text similarity metrics: </a:t>
            </a:r>
            <a:r>
              <a:rPr lang="en-US" dirty="0">
                <a:solidFill>
                  <a:srgbClr val="161616"/>
                </a:solidFill>
                <a:latin typeface="Helvetica" pitchFamily="2" charset="0"/>
              </a:rPr>
              <a:t>An example is </a:t>
            </a:r>
            <a:r>
              <a:rPr lang="en-US" dirty="0">
                <a:solidFill>
                  <a:srgbClr val="161616"/>
                </a:solidFill>
                <a:effectLst/>
                <a:latin typeface="Helvetica" pitchFamily="2" charset="0"/>
              </a:rPr>
              <a:t>the </a:t>
            </a:r>
            <a:r>
              <a:rPr lang="en-US" dirty="0" err="1">
                <a:solidFill>
                  <a:srgbClr val="161616"/>
                </a:solidFill>
                <a:effectLst/>
                <a:latin typeface="Helvetica" pitchFamily="2" charset="0"/>
              </a:rPr>
              <a:t>Levenshtein</a:t>
            </a:r>
            <a:r>
              <a:rPr lang="en-US" dirty="0">
                <a:solidFill>
                  <a:srgbClr val="161616"/>
                </a:solidFill>
                <a:effectLst/>
                <a:latin typeface="Helvetica" pitchFamily="2" charset="0"/>
              </a:rPr>
              <a:t> Similarity Ratio is a string metric for measuring the similarity between two sequences. Such metrics typically do not account for the meaning of words.</a:t>
            </a:r>
          </a:p>
          <a:p>
            <a:r>
              <a:rPr lang="en-US" b="1" dirty="0">
                <a:solidFill>
                  <a:srgbClr val="161616"/>
                </a:solidFill>
                <a:effectLst/>
                <a:latin typeface="Helvetica" pitchFamily="2" charset="0"/>
              </a:rPr>
              <a:t>Semantic similarity metrics:</a:t>
            </a:r>
            <a:r>
              <a:rPr lang="en-US" dirty="0">
                <a:solidFill>
                  <a:srgbClr val="161616"/>
                </a:solidFill>
                <a:effectLst/>
                <a:latin typeface="Helvetica" pitchFamily="2" charset="0"/>
              </a:rPr>
              <a:t> Examples include </a:t>
            </a:r>
            <a:r>
              <a:rPr lang="en-US" dirty="0" err="1">
                <a:solidFill>
                  <a:srgbClr val="161616"/>
                </a:solidFill>
                <a:effectLst/>
                <a:latin typeface="Helvetica" pitchFamily="2" charset="0"/>
              </a:rPr>
              <a:t>BERTScore</a:t>
            </a:r>
            <a:r>
              <a:rPr lang="en-US" dirty="0">
                <a:solidFill>
                  <a:srgbClr val="161616"/>
                </a:solidFill>
                <a:effectLst/>
                <a:latin typeface="Helvetica" pitchFamily="2" charset="0"/>
              </a:rPr>
              <a:t>, </a:t>
            </a:r>
            <a:r>
              <a:rPr lang="en-US" dirty="0" err="1">
                <a:solidFill>
                  <a:srgbClr val="161616"/>
                </a:solidFill>
                <a:effectLst/>
                <a:latin typeface="Helvetica" pitchFamily="2" charset="0"/>
              </a:rPr>
              <a:t>MoverScore</a:t>
            </a:r>
            <a:r>
              <a:rPr lang="en-US" dirty="0">
                <a:solidFill>
                  <a:srgbClr val="161616"/>
                </a:solidFill>
                <a:effectLst/>
                <a:latin typeface="Helvetica" pitchFamily="2" charset="0"/>
              </a:rPr>
              <a:t> , and Sentence Mover Similarity (SMS) metrics that all rely on contextualized embeddings to measure the similarity between two texts. You saw an example of semantic similarity in Q2 of the exam.</a:t>
            </a:r>
          </a:p>
          <a:p>
            <a:r>
              <a:rPr lang="en-US" dirty="0">
                <a:solidFill>
                  <a:srgbClr val="161616"/>
                </a:solidFill>
                <a:effectLst/>
                <a:latin typeface="Helvetica" pitchFamily="2" charset="0"/>
              </a:rPr>
              <a:t>While these metrics are relatively simple, fast, and inexpensive to compute compared to LLM-based metrics, studies have shown that they can have poor correlation with human evaluators, lack of interpretability, inherent bias, poor adaptability to a wider variety of tasks and inability to capture subtle nuances in language.</a:t>
            </a:r>
          </a:p>
          <a:p>
            <a:endParaRPr lang="en-US" dirty="0">
              <a:solidFill>
                <a:srgbClr val="161616"/>
              </a:solidFill>
              <a:effectLst/>
              <a:latin typeface="Helvetica" pitchFamily="2" charset="0"/>
            </a:endParaRPr>
          </a:p>
          <a:p>
            <a:endParaRPr lang="en-US" dirty="0"/>
          </a:p>
        </p:txBody>
      </p:sp>
    </p:spTree>
    <p:extLst>
      <p:ext uri="{BB962C8B-B14F-4D97-AF65-F5344CB8AC3E}">
        <p14:creationId xmlns:p14="http://schemas.microsoft.com/office/powerpoint/2010/main" val="915075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6F4DF-EB32-D038-50B7-904DB0D895FF}"/>
              </a:ext>
            </a:extLst>
          </p:cNvPr>
          <p:cNvSpPr>
            <a:spLocks noGrp="1"/>
          </p:cNvSpPr>
          <p:nvPr>
            <p:ph type="title"/>
          </p:nvPr>
        </p:nvSpPr>
        <p:spPr/>
        <p:txBody>
          <a:bodyPr/>
          <a:lstStyle/>
          <a:p>
            <a:r>
              <a:rPr lang="en-US" dirty="0" err="1"/>
              <a:t>bertscore</a:t>
            </a:r>
            <a:endParaRPr lang="en-US" dirty="0"/>
          </a:p>
        </p:txBody>
      </p:sp>
      <p:sp>
        <p:nvSpPr>
          <p:cNvPr id="3" name="Content Placeholder 2">
            <a:extLst>
              <a:ext uri="{FF2B5EF4-FFF2-40B4-BE49-F238E27FC236}">
                <a16:creationId xmlns:a16="http://schemas.microsoft.com/office/drawing/2014/main" id="{73814C3E-DC70-5E71-3E8A-DF594A6382AE}"/>
              </a:ext>
            </a:extLst>
          </p:cNvPr>
          <p:cNvSpPr>
            <a:spLocks noGrp="1"/>
          </p:cNvSpPr>
          <p:nvPr>
            <p:ph idx="1"/>
          </p:nvPr>
        </p:nvSpPr>
        <p:spPr/>
        <p:txBody>
          <a:bodyPr/>
          <a:lstStyle/>
          <a:p>
            <a:r>
              <a:rPr lang="en-US" dirty="0"/>
              <a:t>A </a:t>
            </a:r>
            <a:r>
              <a:rPr lang="en-US" b="1" dirty="0"/>
              <a:t>semantic evaluation metric</a:t>
            </a:r>
            <a:r>
              <a:rPr lang="en-US" dirty="0"/>
              <a:t> for text generation (summarization, MT, etc.).</a:t>
            </a:r>
          </a:p>
          <a:p>
            <a:r>
              <a:rPr lang="en-US" dirty="0"/>
              <a:t>Instead of comparing surface n-grams, it uses </a:t>
            </a:r>
            <a:r>
              <a:rPr lang="en-US" b="1" dirty="0"/>
              <a:t>contextual embeddings</a:t>
            </a:r>
            <a:r>
              <a:rPr lang="en-US" dirty="0"/>
              <a:t> from large pre-trained language models (e.g., BERT, </a:t>
            </a:r>
            <a:r>
              <a:rPr lang="en-US" dirty="0" err="1"/>
              <a:t>RoBERTa</a:t>
            </a:r>
            <a:r>
              <a:rPr lang="en-US" dirty="0"/>
              <a:t>).</a:t>
            </a:r>
          </a:p>
          <a:p>
            <a:r>
              <a:rPr lang="en-US" dirty="0"/>
              <a:t>Measures </a:t>
            </a:r>
            <a:r>
              <a:rPr lang="en-US" b="1" dirty="0"/>
              <a:t>semantic similarity</a:t>
            </a:r>
            <a:r>
              <a:rPr lang="en-US" dirty="0"/>
              <a:t> between candidate and reference at the word/token level.</a:t>
            </a:r>
          </a:p>
          <a:p>
            <a:r>
              <a:rPr lang="en-US" dirty="0"/>
              <a:t>Published in 2020; has quickly become a popular complement to BLEU/ROUGE.</a:t>
            </a:r>
          </a:p>
          <a:p>
            <a:endParaRPr lang="en-US" dirty="0"/>
          </a:p>
        </p:txBody>
      </p:sp>
      <p:sp>
        <p:nvSpPr>
          <p:cNvPr id="5" name="TextBox 4">
            <a:extLst>
              <a:ext uri="{FF2B5EF4-FFF2-40B4-BE49-F238E27FC236}">
                <a16:creationId xmlns:a16="http://schemas.microsoft.com/office/drawing/2014/main" id="{33528F3C-E1A4-E3B6-2A7E-EBAAC2EBFF85}"/>
              </a:ext>
            </a:extLst>
          </p:cNvPr>
          <p:cNvSpPr txBox="1"/>
          <p:nvPr/>
        </p:nvSpPr>
        <p:spPr>
          <a:xfrm>
            <a:off x="2971800" y="5893308"/>
            <a:ext cx="4572000" cy="369332"/>
          </a:xfrm>
          <a:prstGeom prst="rect">
            <a:avLst/>
          </a:prstGeom>
          <a:noFill/>
        </p:spPr>
        <p:txBody>
          <a:bodyPr wrap="square">
            <a:spAutoFit/>
          </a:bodyPr>
          <a:lstStyle/>
          <a:p>
            <a:r>
              <a:rPr lang="en-US" dirty="0">
                <a:hlinkClick r:id="rId2"/>
              </a:rPr>
              <a:t>https://arxiv.org/pdf/1904.09675</a:t>
            </a:r>
            <a:r>
              <a:rPr lang="en-US" dirty="0"/>
              <a:t> </a:t>
            </a:r>
          </a:p>
        </p:txBody>
      </p:sp>
    </p:spTree>
    <p:extLst>
      <p:ext uri="{BB962C8B-B14F-4D97-AF65-F5344CB8AC3E}">
        <p14:creationId xmlns:p14="http://schemas.microsoft.com/office/powerpoint/2010/main" val="4209326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B1842-D816-0342-6716-5D90A4C800BB}"/>
              </a:ext>
            </a:extLst>
          </p:cNvPr>
          <p:cNvSpPr>
            <a:spLocks noGrp="1"/>
          </p:cNvSpPr>
          <p:nvPr>
            <p:ph type="title"/>
          </p:nvPr>
        </p:nvSpPr>
        <p:spPr/>
        <p:txBody>
          <a:bodyPr/>
          <a:lstStyle/>
          <a:p>
            <a:r>
              <a:rPr lang="en-US" dirty="0"/>
              <a:t>How does it work?</a:t>
            </a:r>
          </a:p>
        </p:txBody>
      </p:sp>
      <p:sp>
        <p:nvSpPr>
          <p:cNvPr id="3" name="Content Placeholder 2">
            <a:extLst>
              <a:ext uri="{FF2B5EF4-FFF2-40B4-BE49-F238E27FC236}">
                <a16:creationId xmlns:a16="http://schemas.microsoft.com/office/drawing/2014/main" id="{32128204-13D2-EE7E-5E93-EF5D0D9573E9}"/>
              </a:ext>
            </a:extLst>
          </p:cNvPr>
          <p:cNvSpPr>
            <a:spLocks noGrp="1"/>
          </p:cNvSpPr>
          <p:nvPr>
            <p:ph idx="1"/>
          </p:nvPr>
        </p:nvSpPr>
        <p:spPr>
          <a:xfrm>
            <a:off x="1606045" y="2312277"/>
            <a:ext cx="6150589" cy="2392312"/>
          </a:xfrm>
        </p:spPr>
        <p:txBody>
          <a:bodyPr>
            <a:normAutofit fontScale="85000" lnSpcReduction="20000"/>
          </a:bodyPr>
          <a:lstStyle/>
          <a:p>
            <a:r>
              <a:rPr lang="en-US" dirty="0"/>
              <a:t>Encode both </a:t>
            </a:r>
            <a:r>
              <a:rPr lang="en-US" b="1" dirty="0"/>
              <a:t>candidate</a:t>
            </a:r>
            <a:r>
              <a:rPr lang="en-US" dirty="0"/>
              <a:t> and </a:t>
            </a:r>
            <a:r>
              <a:rPr lang="en-US" b="1" dirty="0"/>
              <a:t>reference</a:t>
            </a:r>
            <a:r>
              <a:rPr lang="en-US" dirty="0"/>
              <a:t> sentences into embeddings using BERT.</a:t>
            </a:r>
          </a:p>
          <a:p>
            <a:r>
              <a:rPr lang="en-US" dirty="0"/>
              <a:t>For each token in candidate, find the </a:t>
            </a:r>
            <a:r>
              <a:rPr lang="en-US" b="1" dirty="0"/>
              <a:t>most similar token</a:t>
            </a:r>
            <a:r>
              <a:rPr lang="en-US" dirty="0"/>
              <a:t> in the reference (cosine similarity).</a:t>
            </a:r>
          </a:p>
          <a:p>
            <a:r>
              <a:rPr lang="en-US" dirty="0"/>
              <a:t>Compute:</a:t>
            </a:r>
          </a:p>
          <a:p>
            <a:pPr>
              <a:buFont typeface="Arial" panose="020B0604020202020204" pitchFamily="34" charset="0"/>
              <a:buChar char="•"/>
            </a:pPr>
            <a:r>
              <a:rPr lang="en-US" b="1" dirty="0"/>
              <a:t>Precision:</a:t>
            </a:r>
            <a:r>
              <a:rPr lang="en-US" dirty="0"/>
              <a:t> how well candidate tokens find good matches in the reference.</a:t>
            </a:r>
          </a:p>
          <a:p>
            <a:pPr>
              <a:buFont typeface="Arial" panose="020B0604020202020204" pitchFamily="34" charset="0"/>
              <a:buChar char="•"/>
            </a:pPr>
            <a:r>
              <a:rPr lang="en-US" b="1" dirty="0"/>
              <a:t>Recall:</a:t>
            </a:r>
            <a:r>
              <a:rPr lang="en-US" dirty="0"/>
              <a:t> how well reference tokens are covered by candidate tokens.</a:t>
            </a:r>
          </a:p>
          <a:p>
            <a:pPr>
              <a:buFont typeface="Arial" panose="020B0604020202020204" pitchFamily="34" charset="0"/>
              <a:buChar char="•"/>
            </a:pPr>
            <a:r>
              <a:rPr lang="en-US" b="1" dirty="0"/>
              <a:t>F1:</a:t>
            </a:r>
            <a:r>
              <a:rPr lang="en-US" dirty="0"/>
              <a:t> harmonic mean of precision and recall.</a:t>
            </a:r>
          </a:p>
          <a:p>
            <a:endParaRPr lang="en-US" dirty="0"/>
          </a:p>
        </p:txBody>
      </p:sp>
      <p:pic>
        <p:nvPicPr>
          <p:cNvPr id="5" name="Picture 4" descr="A mathematical equations with numbers&#10;&#10;Description automatically generated with medium confidence">
            <a:extLst>
              <a:ext uri="{FF2B5EF4-FFF2-40B4-BE49-F238E27FC236}">
                <a16:creationId xmlns:a16="http://schemas.microsoft.com/office/drawing/2014/main" id="{17BC8E01-2FC7-DE93-402D-F184766189ED}"/>
              </a:ext>
            </a:extLst>
          </p:cNvPr>
          <p:cNvPicPr>
            <a:picLocks noChangeAspect="1"/>
          </p:cNvPicPr>
          <p:nvPr/>
        </p:nvPicPr>
        <p:blipFill>
          <a:blip r:embed="rId2"/>
          <a:stretch>
            <a:fillRect/>
          </a:stretch>
        </p:blipFill>
        <p:spPr>
          <a:xfrm>
            <a:off x="3130769" y="5069341"/>
            <a:ext cx="3101865" cy="1394864"/>
          </a:xfrm>
          <a:prstGeom prst="rect">
            <a:avLst/>
          </a:prstGeom>
        </p:spPr>
      </p:pic>
    </p:spTree>
    <p:extLst>
      <p:ext uri="{BB962C8B-B14F-4D97-AF65-F5344CB8AC3E}">
        <p14:creationId xmlns:p14="http://schemas.microsoft.com/office/powerpoint/2010/main" val="18348011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29C19-992D-0D32-D3C5-EC506FC04894}"/>
              </a:ext>
            </a:extLst>
          </p:cNvPr>
          <p:cNvSpPr>
            <a:spLocks noGrp="1"/>
          </p:cNvSpPr>
          <p:nvPr>
            <p:ph type="title"/>
          </p:nvPr>
        </p:nvSpPr>
        <p:spPr/>
        <p:txBody>
          <a:bodyPr/>
          <a:lstStyle/>
          <a:p>
            <a:r>
              <a:rPr lang="en-US" dirty="0"/>
              <a:t>Visual illustration</a:t>
            </a:r>
          </a:p>
        </p:txBody>
      </p:sp>
      <p:pic>
        <p:nvPicPr>
          <p:cNvPr id="5" name="Content Placeholder 4" descr="A diagram of a algorithm&#10;&#10;Description automatically generated">
            <a:extLst>
              <a:ext uri="{FF2B5EF4-FFF2-40B4-BE49-F238E27FC236}">
                <a16:creationId xmlns:a16="http://schemas.microsoft.com/office/drawing/2014/main" id="{1BE67870-C371-A5DF-0F91-8C690FB43C59}"/>
              </a:ext>
            </a:extLst>
          </p:cNvPr>
          <p:cNvPicPr>
            <a:picLocks noGrp="1" noChangeAspect="1"/>
          </p:cNvPicPr>
          <p:nvPr>
            <p:ph idx="1"/>
          </p:nvPr>
        </p:nvPicPr>
        <p:blipFill>
          <a:blip r:embed="rId2"/>
          <a:stretch>
            <a:fillRect/>
          </a:stretch>
        </p:blipFill>
        <p:spPr>
          <a:xfrm>
            <a:off x="707425" y="2985497"/>
            <a:ext cx="7729150" cy="2907811"/>
          </a:xfrm>
        </p:spPr>
      </p:pic>
    </p:spTree>
    <p:extLst>
      <p:ext uri="{BB962C8B-B14F-4D97-AF65-F5344CB8AC3E}">
        <p14:creationId xmlns:p14="http://schemas.microsoft.com/office/powerpoint/2010/main" val="3939138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8872D-305D-5E7F-246A-C66E1820DE39}"/>
              </a:ext>
            </a:extLst>
          </p:cNvPr>
          <p:cNvSpPr>
            <a:spLocks noGrp="1"/>
          </p:cNvSpPr>
          <p:nvPr>
            <p:ph type="title"/>
          </p:nvPr>
        </p:nvSpPr>
        <p:spPr/>
        <p:txBody>
          <a:bodyPr/>
          <a:lstStyle/>
          <a:p>
            <a:r>
              <a:rPr lang="en-US" dirty="0"/>
              <a:t>Why </a:t>
            </a:r>
            <a:r>
              <a:rPr lang="en-US" dirty="0" err="1"/>
              <a:t>bertscore</a:t>
            </a:r>
            <a:r>
              <a:rPr lang="en-US" dirty="0"/>
              <a:t>?</a:t>
            </a:r>
          </a:p>
        </p:txBody>
      </p:sp>
      <p:sp>
        <p:nvSpPr>
          <p:cNvPr id="3" name="Content Placeholder 2">
            <a:extLst>
              <a:ext uri="{FF2B5EF4-FFF2-40B4-BE49-F238E27FC236}">
                <a16:creationId xmlns:a16="http://schemas.microsoft.com/office/drawing/2014/main" id="{664CD268-7F03-8BA6-9CDA-9DEF91653663}"/>
              </a:ext>
            </a:extLst>
          </p:cNvPr>
          <p:cNvSpPr>
            <a:spLocks noGrp="1"/>
          </p:cNvSpPr>
          <p:nvPr>
            <p:ph idx="1"/>
          </p:nvPr>
        </p:nvSpPr>
        <p:spPr/>
        <p:txBody>
          <a:bodyPr/>
          <a:lstStyle/>
          <a:p>
            <a:pPr>
              <a:buFont typeface="Arial" panose="020B0604020202020204" pitchFamily="34" charset="0"/>
              <a:buChar char="•"/>
            </a:pPr>
            <a:r>
              <a:rPr lang="en-US" b="1" dirty="0"/>
              <a:t>Captures meaning, not just word overlap</a:t>
            </a:r>
            <a:br>
              <a:rPr lang="en-US" dirty="0"/>
            </a:br>
            <a:r>
              <a:rPr lang="en-US" dirty="0"/>
              <a:t>– “the cat is on the mat” vs. “the feline lies on the rug” → BLEU/ROUGE: low, </a:t>
            </a:r>
            <a:r>
              <a:rPr lang="en-US" dirty="0" err="1"/>
              <a:t>BERTScore</a:t>
            </a:r>
            <a:r>
              <a:rPr lang="en-US" dirty="0"/>
              <a:t>: high.</a:t>
            </a:r>
          </a:p>
          <a:p>
            <a:pPr>
              <a:buFont typeface="Arial" panose="020B0604020202020204" pitchFamily="34" charset="0"/>
              <a:buChar char="•"/>
            </a:pPr>
            <a:r>
              <a:rPr lang="en-US" b="1" dirty="0"/>
              <a:t>Language-aware</a:t>
            </a:r>
            <a:br>
              <a:rPr lang="en-US" dirty="0"/>
            </a:br>
            <a:r>
              <a:rPr lang="en-US" dirty="0"/>
              <a:t>– Uses contextual embeddings, so “bank” (river bank vs. financial bank) is disambiguated.</a:t>
            </a:r>
          </a:p>
          <a:p>
            <a:pPr>
              <a:buFont typeface="Arial" panose="020B0604020202020204" pitchFamily="34" charset="0"/>
              <a:buChar char="•"/>
            </a:pPr>
            <a:r>
              <a:rPr lang="en-US" b="1" dirty="0"/>
              <a:t>Better correlation with human judgments</a:t>
            </a:r>
            <a:r>
              <a:rPr lang="en-US" dirty="0"/>
              <a:t> than BLEU/ROUGE, especially at sentence level.</a:t>
            </a:r>
          </a:p>
          <a:p>
            <a:pPr>
              <a:buFont typeface="Arial" panose="020B0604020202020204" pitchFamily="34" charset="0"/>
              <a:buChar char="•"/>
            </a:pPr>
            <a:r>
              <a:rPr lang="en-US" dirty="0"/>
              <a:t>Supports multiple languages and tasks.</a:t>
            </a:r>
          </a:p>
          <a:p>
            <a:endParaRPr lang="en-US" dirty="0"/>
          </a:p>
        </p:txBody>
      </p:sp>
    </p:spTree>
    <p:extLst>
      <p:ext uri="{BB962C8B-B14F-4D97-AF65-F5344CB8AC3E}">
        <p14:creationId xmlns:p14="http://schemas.microsoft.com/office/powerpoint/2010/main" val="19116282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D12AA-E535-2977-0EF3-936CA691DF61}"/>
              </a:ext>
            </a:extLst>
          </p:cNvPr>
          <p:cNvSpPr>
            <a:spLocks noGrp="1"/>
          </p:cNvSpPr>
          <p:nvPr>
            <p:ph type="title"/>
          </p:nvPr>
        </p:nvSpPr>
        <p:spPr/>
        <p:txBody>
          <a:bodyPr/>
          <a:lstStyle/>
          <a:p>
            <a:r>
              <a:rPr lang="en-US" dirty="0"/>
              <a:t>But…like all metrics, it also has some limitations!</a:t>
            </a:r>
          </a:p>
        </p:txBody>
      </p:sp>
      <p:sp>
        <p:nvSpPr>
          <p:cNvPr id="3" name="Content Placeholder 2">
            <a:extLst>
              <a:ext uri="{FF2B5EF4-FFF2-40B4-BE49-F238E27FC236}">
                <a16:creationId xmlns:a16="http://schemas.microsoft.com/office/drawing/2014/main" id="{B5883323-32D7-7F93-1493-FCCE5B740A87}"/>
              </a:ext>
            </a:extLst>
          </p:cNvPr>
          <p:cNvSpPr>
            <a:spLocks noGrp="1"/>
          </p:cNvSpPr>
          <p:nvPr>
            <p:ph idx="1"/>
          </p:nvPr>
        </p:nvSpPr>
        <p:spPr/>
        <p:txBody>
          <a:bodyPr/>
          <a:lstStyle/>
          <a:p>
            <a:r>
              <a:rPr lang="en-US" dirty="0"/>
              <a:t>Dependent on the choice of pretrained model (BERT vs. </a:t>
            </a:r>
            <a:r>
              <a:rPr lang="en-US" dirty="0" err="1"/>
              <a:t>RoBERTa</a:t>
            </a:r>
            <a:r>
              <a:rPr lang="en-US" dirty="0"/>
              <a:t> vs. multilingual models).</a:t>
            </a:r>
          </a:p>
          <a:p>
            <a:r>
              <a:rPr lang="en-US" dirty="0"/>
              <a:t>Computationally more expensive than n-gram counts.</a:t>
            </a:r>
          </a:p>
          <a:p>
            <a:r>
              <a:rPr lang="en-US" dirty="0"/>
              <a:t>Scores can be high even if output is fluent but </a:t>
            </a:r>
            <a:r>
              <a:rPr lang="en-US" b="1" dirty="0"/>
              <a:t>factually wrong</a:t>
            </a:r>
            <a:r>
              <a:rPr lang="en-US" dirty="0"/>
              <a:t> (semantic similarity ≠ truth).</a:t>
            </a:r>
          </a:p>
          <a:p>
            <a:r>
              <a:rPr lang="en-US" dirty="0"/>
              <a:t>Not always interpretable (no easy “matched n-grams” to point to).</a:t>
            </a:r>
          </a:p>
          <a:p>
            <a:endParaRPr lang="en-US" dirty="0"/>
          </a:p>
        </p:txBody>
      </p:sp>
    </p:spTree>
    <p:extLst>
      <p:ext uri="{BB962C8B-B14F-4D97-AF65-F5344CB8AC3E}">
        <p14:creationId xmlns:p14="http://schemas.microsoft.com/office/powerpoint/2010/main" val="7142152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BD40C-0D89-7A5D-A884-92480BC044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693945F-5F77-EADB-B498-2BFB44DB7F4F}"/>
              </a:ext>
            </a:extLst>
          </p:cNvPr>
          <p:cNvSpPr>
            <a:spLocks noGrp="1"/>
          </p:cNvSpPr>
          <p:nvPr>
            <p:ph type="title"/>
          </p:nvPr>
        </p:nvSpPr>
        <p:spPr>
          <a:xfrm>
            <a:off x="1603122" y="2834640"/>
            <a:ext cx="5937755" cy="1188720"/>
          </a:xfrm>
        </p:spPr>
        <p:txBody>
          <a:bodyPr/>
          <a:lstStyle/>
          <a:p>
            <a:r>
              <a:rPr lang="en-US" dirty="0"/>
              <a:t>Reference-FREE metrics</a:t>
            </a:r>
          </a:p>
        </p:txBody>
      </p:sp>
    </p:spTree>
    <p:extLst>
      <p:ext uri="{BB962C8B-B14F-4D97-AF65-F5344CB8AC3E}">
        <p14:creationId xmlns:p14="http://schemas.microsoft.com/office/powerpoint/2010/main" val="545582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A8198A-CF8A-D761-A3A9-A407B50EE2AB}"/>
              </a:ext>
            </a:extLst>
          </p:cNvPr>
          <p:cNvSpPr>
            <a:spLocks noGrp="1"/>
          </p:cNvSpPr>
          <p:nvPr>
            <p:ph type="title"/>
          </p:nvPr>
        </p:nvSpPr>
        <p:spPr/>
        <p:txBody>
          <a:bodyPr/>
          <a:lstStyle/>
          <a:p>
            <a:r>
              <a:rPr lang="en-US" dirty="0"/>
              <a:t>introduction</a:t>
            </a:r>
          </a:p>
        </p:txBody>
      </p:sp>
      <p:sp>
        <p:nvSpPr>
          <p:cNvPr id="4" name="Content Placeholder 3">
            <a:extLst>
              <a:ext uri="{FF2B5EF4-FFF2-40B4-BE49-F238E27FC236}">
                <a16:creationId xmlns:a16="http://schemas.microsoft.com/office/drawing/2014/main" id="{990E0F9F-5659-4268-8FBE-CC92BA1A4EFD}"/>
              </a:ext>
            </a:extLst>
          </p:cNvPr>
          <p:cNvSpPr>
            <a:spLocks noGrp="1"/>
          </p:cNvSpPr>
          <p:nvPr>
            <p:ph idx="1"/>
          </p:nvPr>
        </p:nvSpPr>
        <p:spPr/>
        <p:txBody>
          <a:bodyPr>
            <a:normAutofit fontScale="92500" lnSpcReduction="10000"/>
          </a:bodyPr>
          <a:lstStyle/>
          <a:p>
            <a:r>
              <a:rPr lang="en-US" dirty="0">
                <a:solidFill>
                  <a:srgbClr val="161616"/>
                </a:solidFill>
                <a:effectLst/>
                <a:latin typeface="Helvetica" pitchFamily="2" charset="0"/>
              </a:rPr>
              <a:t>Reference-free (context-based) metrics produce a score for the generated text and do not rely on ground truth. Evaluation is based on the context or source document. </a:t>
            </a:r>
          </a:p>
          <a:p>
            <a:r>
              <a:rPr lang="en-US" dirty="0">
                <a:solidFill>
                  <a:srgbClr val="161616"/>
                </a:solidFill>
                <a:effectLst/>
                <a:latin typeface="Helvetica" pitchFamily="2" charset="0"/>
              </a:rPr>
              <a:t>Many of these metrics were developed in response to the challenge of creating ground truth data. These methods tend to be newer than reference-based techniques, reflecting the growing demand for scalable text evaluation as LLMs became increasingly powerful. </a:t>
            </a:r>
          </a:p>
          <a:p>
            <a:r>
              <a:rPr lang="en-US" dirty="0">
                <a:solidFill>
                  <a:srgbClr val="161616"/>
                </a:solidFill>
                <a:effectLst/>
                <a:latin typeface="Helvetica" pitchFamily="2" charset="0"/>
              </a:rPr>
              <a:t>These include quality-based, entailment-based, factuality-based, question-answering (QA) and question-generation (QG) based metrics.</a:t>
            </a:r>
          </a:p>
          <a:p>
            <a:endParaRPr lang="en-US" dirty="0"/>
          </a:p>
        </p:txBody>
      </p:sp>
    </p:spTree>
    <p:extLst>
      <p:ext uri="{BB962C8B-B14F-4D97-AF65-F5344CB8AC3E}">
        <p14:creationId xmlns:p14="http://schemas.microsoft.com/office/powerpoint/2010/main" val="2179557152"/>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{B931A46B-7489-F743-B3DA-1230E58126F1}tf10001120</Template>
  <TotalTime>1553</TotalTime>
  <Words>2620</Words>
  <Application>Microsoft Macintosh PowerPoint</Application>
  <PresentationFormat>On-screen Show (4:3)</PresentationFormat>
  <Paragraphs>155</Paragraphs>
  <Slides>30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Corbel</vt:lpstr>
      <vt:lpstr>Gill Sans MT</vt:lpstr>
      <vt:lpstr>Helvetica</vt:lpstr>
      <vt:lpstr>Parcel</vt:lpstr>
      <vt:lpstr>ISE 547</vt:lpstr>
      <vt:lpstr>How do we evaluate llm-generated content?</vt:lpstr>
      <vt:lpstr>Reference-based metrics</vt:lpstr>
      <vt:lpstr>Reference-based metrics</vt:lpstr>
      <vt:lpstr>Bleu</vt:lpstr>
      <vt:lpstr>Key concepts</vt:lpstr>
      <vt:lpstr>Formula</vt:lpstr>
      <vt:lpstr>Detailed example</vt:lpstr>
      <vt:lpstr>Now you do one</vt:lpstr>
      <vt:lpstr>Example of multiple references+brevity penalty</vt:lpstr>
      <vt:lpstr>Let’s do another one</vt:lpstr>
      <vt:lpstr>Some things to note about bleu</vt:lpstr>
      <vt:lpstr>Limitations of bleu</vt:lpstr>
      <vt:lpstr>rouge</vt:lpstr>
      <vt:lpstr>Rouge-n v.s. rouge-l</vt:lpstr>
      <vt:lpstr>Example (ROUGE-1)</vt:lpstr>
      <vt:lpstr>Example (rouge-l)</vt:lpstr>
      <vt:lpstr>What is lcs?</vt:lpstr>
      <vt:lpstr>How to compute lcs</vt:lpstr>
      <vt:lpstr>Worked example</vt:lpstr>
      <vt:lpstr>comparison</vt:lpstr>
      <vt:lpstr>limitations</vt:lpstr>
      <vt:lpstr>other similarity metrics</vt:lpstr>
      <vt:lpstr>bertscore</vt:lpstr>
      <vt:lpstr>How does it work?</vt:lpstr>
      <vt:lpstr>Visual illustration</vt:lpstr>
      <vt:lpstr>Why bertscore?</vt:lpstr>
      <vt:lpstr>But…like all metrics, it also has some limitations!</vt:lpstr>
      <vt:lpstr>Reference-FREE metrics</vt:lpstr>
      <vt:lpstr>introduction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ISE 599 Special Topics applied predictive Analytics</dc:title>
  <dc:creator>Mayank Kejriwal</dc:creator>
  <cp:lastModifiedBy>Mayank Kejriwal</cp:lastModifiedBy>
  <cp:revision>234</cp:revision>
  <dcterms:created xsi:type="dcterms:W3CDTF">2019-09-09T04:24:45Z</dcterms:created>
  <dcterms:modified xsi:type="dcterms:W3CDTF">2025-10-21T03:08:41Z</dcterms:modified>
</cp:coreProperties>
</file>